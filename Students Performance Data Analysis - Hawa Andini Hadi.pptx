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0"/>
  </p:notesMasterIdLst>
  <p:sldIdLst>
    <p:sldId id="256" r:id="rId2"/>
    <p:sldId id="261" r:id="rId3"/>
    <p:sldId id="263" r:id="rId4"/>
    <p:sldId id="266" r:id="rId5"/>
    <p:sldId id="264" r:id="rId6"/>
    <p:sldId id="275" r:id="rId7"/>
    <p:sldId id="265" r:id="rId8"/>
    <p:sldId id="267" r:id="rId9"/>
    <p:sldId id="270" r:id="rId10"/>
    <p:sldId id="269" r:id="rId11"/>
    <p:sldId id="268" r:id="rId12"/>
    <p:sldId id="271" r:id="rId13"/>
    <p:sldId id="272" r:id="rId14"/>
    <p:sldId id="273" r:id="rId15"/>
    <p:sldId id="274" r:id="rId16"/>
    <p:sldId id="276" r:id="rId17"/>
    <p:sldId id="277" r:id="rId18"/>
    <p:sldId id="259" r:id="rId19"/>
  </p:sldIdLst>
  <p:sldSz cx="9144000" cy="5143500" type="screen16x9"/>
  <p:notesSz cx="6858000" cy="9144000"/>
  <p:embeddedFontLst>
    <p:embeddedFont>
      <p:font typeface="Poppins" panose="00000500000000000000" pitchFamily="2" charset="0"/>
      <p:regular r:id="rId21"/>
      <p:bold r:id="rId22"/>
      <p:italic r:id="rId23"/>
      <p:boldItalic r:id="rId24"/>
    </p:embeddedFont>
    <p:embeddedFont>
      <p:font typeface="Poppins Light" panose="00000400000000000000" pitchFamily="2" charset="0"/>
      <p:regular r:id="rId25"/>
      <p:bold r:id="rId26"/>
      <p:italic r:id="rId27"/>
      <p:boldItalic r:id="rId28"/>
    </p:embeddedFont>
    <p:embeddedFont>
      <p:font typeface="Poppins SemiBold" panose="000007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716" autoAdjust="0"/>
  </p:normalViewPr>
  <p:slideViewPr>
    <p:cSldViewPr snapToGrid="0">
      <p:cViewPr varScale="1">
        <p:scale>
          <a:sx n="78" d="100"/>
          <a:sy n="78" d="100"/>
        </p:scale>
        <p:origin x="868" y="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8569ad431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569ad431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8569ad431c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8569ad431c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215700" y="859800"/>
            <a:ext cx="4020300" cy="24042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Clr>
                <a:schemeClr val="lt1"/>
              </a:buClr>
              <a:buSzPts val="4000"/>
              <a:buNone/>
              <a:defRPr sz="4000">
                <a:solidFill>
                  <a:schemeClr val="lt1"/>
                </a:solidFill>
              </a:defRPr>
            </a:lvl1pPr>
            <a:lvl2pPr lvl="1" algn="ctr" rtl="0">
              <a:lnSpc>
                <a:spcPct val="100000"/>
              </a:lnSpc>
              <a:spcBef>
                <a:spcPts val="0"/>
              </a:spcBef>
              <a:spcAft>
                <a:spcPts val="0"/>
              </a:spcAft>
              <a:buSzPts val="4100"/>
              <a:buNone/>
              <a:defRPr sz="4100"/>
            </a:lvl2pPr>
            <a:lvl3pPr lvl="2" algn="ctr" rtl="0">
              <a:lnSpc>
                <a:spcPct val="100000"/>
              </a:lnSpc>
              <a:spcBef>
                <a:spcPts val="0"/>
              </a:spcBef>
              <a:spcAft>
                <a:spcPts val="0"/>
              </a:spcAft>
              <a:buSzPts val="4100"/>
              <a:buNone/>
              <a:defRPr sz="4100"/>
            </a:lvl3pPr>
            <a:lvl4pPr lvl="3" algn="ctr" rtl="0">
              <a:lnSpc>
                <a:spcPct val="100000"/>
              </a:lnSpc>
              <a:spcBef>
                <a:spcPts val="0"/>
              </a:spcBef>
              <a:spcAft>
                <a:spcPts val="0"/>
              </a:spcAft>
              <a:buSzPts val="4100"/>
              <a:buNone/>
              <a:defRPr sz="4100"/>
            </a:lvl4pPr>
            <a:lvl5pPr lvl="4" algn="ctr" rtl="0">
              <a:lnSpc>
                <a:spcPct val="100000"/>
              </a:lnSpc>
              <a:spcBef>
                <a:spcPts val="0"/>
              </a:spcBef>
              <a:spcAft>
                <a:spcPts val="0"/>
              </a:spcAft>
              <a:buSzPts val="4100"/>
              <a:buNone/>
              <a:defRPr sz="4100"/>
            </a:lvl5pPr>
            <a:lvl6pPr lvl="5" algn="ctr" rtl="0">
              <a:lnSpc>
                <a:spcPct val="100000"/>
              </a:lnSpc>
              <a:spcBef>
                <a:spcPts val="0"/>
              </a:spcBef>
              <a:spcAft>
                <a:spcPts val="0"/>
              </a:spcAft>
              <a:buSzPts val="4100"/>
              <a:buNone/>
              <a:defRPr sz="4100"/>
            </a:lvl6pPr>
            <a:lvl7pPr lvl="6" algn="ctr" rtl="0">
              <a:lnSpc>
                <a:spcPct val="100000"/>
              </a:lnSpc>
              <a:spcBef>
                <a:spcPts val="0"/>
              </a:spcBef>
              <a:spcAft>
                <a:spcPts val="0"/>
              </a:spcAft>
              <a:buSzPts val="4100"/>
              <a:buNone/>
              <a:defRPr sz="4100"/>
            </a:lvl7pPr>
            <a:lvl8pPr lvl="7" algn="ctr" rtl="0">
              <a:lnSpc>
                <a:spcPct val="100000"/>
              </a:lnSpc>
              <a:spcBef>
                <a:spcPts val="0"/>
              </a:spcBef>
              <a:spcAft>
                <a:spcPts val="0"/>
              </a:spcAft>
              <a:buSzPts val="4100"/>
              <a:buNone/>
              <a:defRPr sz="4100"/>
            </a:lvl8pPr>
            <a:lvl9pPr lvl="8" algn="ctr" rtl="0">
              <a:lnSpc>
                <a:spcPct val="100000"/>
              </a:lnSpc>
              <a:spcBef>
                <a:spcPts val="0"/>
              </a:spcBef>
              <a:spcAft>
                <a:spcPts val="0"/>
              </a:spcAft>
              <a:buSzPts val="4100"/>
              <a:buNone/>
              <a:defRPr sz="4100"/>
            </a:lvl9pPr>
          </a:lstStyle>
          <a:p>
            <a:endParaRPr/>
          </a:p>
        </p:txBody>
      </p:sp>
      <p:sp>
        <p:nvSpPr>
          <p:cNvPr id="56" name="Google Shape;56;p14"/>
          <p:cNvSpPr txBox="1">
            <a:spLocks noGrp="1"/>
          </p:cNvSpPr>
          <p:nvPr>
            <p:ph type="subTitle" idx="1"/>
          </p:nvPr>
        </p:nvSpPr>
        <p:spPr>
          <a:xfrm>
            <a:off x="215700" y="4107600"/>
            <a:ext cx="4248300" cy="5907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1900"/>
              <a:buNone/>
              <a:defRPr sz="1900"/>
            </a:lvl1pPr>
            <a:lvl2pPr lvl="1" algn="l" rtl="0">
              <a:lnSpc>
                <a:spcPct val="100000"/>
              </a:lnSpc>
              <a:spcBef>
                <a:spcPts val="0"/>
              </a:spcBef>
              <a:spcAft>
                <a:spcPts val="0"/>
              </a:spcAft>
              <a:buSzPts val="1900"/>
              <a:buNone/>
              <a:defRPr sz="1900"/>
            </a:lvl2pPr>
            <a:lvl3pPr lvl="2" algn="l" rtl="0">
              <a:lnSpc>
                <a:spcPct val="100000"/>
              </a:lnSpc>
              <a:spcBef>
                <a:spcPts val="0"/>
              </a:spcBef>
              <a:spcAft>
                <a:spcPts val="0"/>
              </a:spcAft>
              <a:buSzPts val="1900"/>
              <a:buNone/>
              <a:defRPr sz="1900"/>
            </a:lvl3pPr>
            <a:lvl4pPr lvl="3" algn="l" rtl="0">
              <a:lnSpc>
                <a:spcPct val="100000"/>
              </a:lnSpc>
              <a:spcBef>
                <a:spcPts val="0"/>
              </a:spcBef>
              <a:spcAft>
                <a:spcPts val="0"/>
              </a:spcAft>
              <a:buSzPts val="1900"/>
              <a:buNone/>
              <a:defRPr sz="1900"/>
            </a:lvl4pPr>
            <a:lvl5pPr lvl="4" algn="l" rtl="0">
              <a:lnSpc>
                <a:spcPct val="100000"/>
              </a:lnSpc>
              <a:spcBef>
                <a:spcPts val="0"/>
              </a:spcBef>
              <a:spcAft>
                <a:spcPts val="0"/>
              </a:spcAft>
              <a:buSzPts val="1900"/>
              <a:buNone/>
              <a:defRPr sz="1900"/>
            </a:lvl5pPr>
            <a:lvl6pPr lvl="5" algn="l" rtl="0">
              <a:lnSpc>
                <a:spcPct val="100000"/>
              </a:lnSpc>
              <a:spcBef>
                <a:spcPts val="0"/>
              </a:spcBef>
              <a:spcAft>
                <a:spcPts val="0"/>
              </a:spcAft>
              <a:buSzPts val="1900"/>
              <a:buNone/>
              <a:defRPr sz="1900"/>
            </a:lvl6pPr>
            <a:lvl7pPr lvl="6" algn="l" rtl="0">
              <a:lnSpc>
                <a:spcPct val="100000"/>
              </a:lnSpc>
              <a:spcBef>
                <a:spcPts val="0"/>
              </a:spcBef>
              <a:spcAft>
                <a:spcPts val="0"/>
              </a:spcAft>
              <a:buSzPts val="1900"/>
              <a:buNone/>
              <a:defRPr sz="1900"/>
            </a:lvl7pPr>
            <a:lvl8pPr lvl="7" algn="l" rtl="0">
              <a:lnSpc>
                <a:spcPct val="100000"/>
              </a:lnSpc>
              <a:spcBef>
                <a:spcPts val="0"/>
              </a:spcBef>
              <a:spcAft>
                <a:spcPts val="0"/>
              </a:spcAft>
              <a:buSzPts val="1900"/>
              <a:buNone/>
              <a:defRPr sz="1900"/>
            </a:lvl8pPr>
            <a:lvl9pPr lvl="8" algn="l" rtl="0">
              <a:lnSpc>
                <a:spcPct val="100000"/>
              </a:lnSpc>
              <a:spcBef>
                <a:spcPts val="0"/>
              </a:spcBef>
              <a:spcAft>
                <a:spcPts val="0"/>
              </a:spcAft>
              <a:buSzPts val="1900"/>
              <a:buNone/>
              <a:defRPr sz="1900"/>
            </a:lvl9pPr>
          </a:lstStyle>
          <a:p>
            <a:endParaRPr/>
          </a:p>
        </p:txBody>
      </p:sp>
      <p:sp>
        <p:nvSpPr>
          <p:cNvPr id="57" name="Google Shape;57;p14"/>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1080000" y="1958850"/>
            <a:ext cx="6984000" cy="841800"/>
          </a:xfrm>
          <a:prstGeom prst="rect">
            <a:avLst/>
          </a:prstGeom>
          <a:noFill/>
          <a:ln>
            <a:noFill/>
          </a:ln>
        </p:spPr>
        <p:txBody>
          <a:bodyPr spcFirstLastPara="1" wrap="square" lIns="91425" tIns="91425" rIns="91425" bIns="91425" anchor="ctr" anchorCtr="0">
            <a:normAutofit/>
          </a:bodyPr>
          <a:lstStyle>
            <a:lvl1pPr lvl="0" algn="ctr" rtl="0">
              <a:lnSpc>
                <a:spcPct val="100000"/>
              </a:lnSpc>
              <a:spcBef>
                <a:spcPts val="0"/>
              </a:spcBef>
              <a:spcAft>
                <a:spcPts val="0"/>
              </a:spcAft>
              <a:buClr>
                <a:schemeClr val="lt1"/>
              </a:buClr>
              <a:buSzPts val="3200"/>
              <a:buNone/>
              <a:defRPr sz="3200">
                <a:solidFill>
                  <a:schemeClr val="lt1"/>
                </a:solidFill>
              </a:defRPr>
            </a:lvl1pPr>
            <a:lvl2pPr lvl="1" algn="ctr" rtl="0">
              <a:lnSpc>
                <a:spcPct val="100000"/>
              </a:lnSpc>
              <a:spcBef>
                <a:spcPts val="0"/>
              </a:spcBef>
              <a:spcAft>
                <a:spcPts val="0"/>
              </a:spcAft>
              <a:buSzPts val="3200"/>
              <a:buNone/>
              <a:defRPr sz="3200"/>
            </a:lvl2pPr>
            <a:lvl3pPr lvl="2" algn="ctr" rtl="0">
              <a:lnSpc>
                <a:spcPct val="100000"/>
              </a:lnSpc>
              <a:spcBef>
                <a:spcPts val="0"/>
              </a:spcBef>
              <a:spcAft>
                <a:spcPts val="0"/>
              </a:spcAft>
              <a:buSzPts val="3200"/>
              <a:buNone/>
              <a:defRPr sz="3200"/>
            </a:lvl3pPr>
            <a:lvl4pPr lvl="3" algn="ctr" rtl="0">
              <a:lnSpc>
                <a:spcPct val="100000"/>
              </a:lnSpc>
              <a:spcBef>
                <a:spcPts val="0"/>
              </a:spcBef>
              <a:spcAft>
                <a:spcPts val="0"/>
              </a:spcAft>
              <a:buSzPts val="3200"/>
              <a:buNone/>
              <a:defRPr sz="3200"/>
            </a:lvl4pPr>
            <a:lvl5pPr lvl="4" algn="ctr" rtl="0">
              <a:lnSpc>
                <a:spcPct val="100000"/>
              </a:lnSpc>
              <a:spcBef>
                <a:spcPts val="0"/>
              </a:spcBef>
              <a:spcAft>
                <a:spcPts val="0"/>
              </a:spcAft>
              <a:buSzPts val="3200"/>
              <a:buNone/>
              <a:defRPr sz="3200"/>
            </a:lvl5pPr>
            <a:lvl6pPr lvl="5" algn="ctr" rtl="0">
              <a:lnSpc>
                <a:spcPct val="100000"/>
              </a:lnSpc>
              <a:spcBef>
                <a:spcPts val="0"/>
              </a:spcBef>
              <a:spcAft>
                <a:spcPts val="0"/>
              </a:spcAft>
              <a:buSzPts val="3200"/>
              <a:buNone/>
              <a:defRPr sz="3200"/>
            </a:lvl6pPr>
            <a:lvl7pPr lvl="6" algn="ctr" rtl="0">
              <a:lnSpc>
                <a:spcPct val="100000"/>
              </a:lnSpc>
              <a:spcBef>
                <a:spcPts val="0"/>
              </a:spcBef>
              <a:spcAft>
                <a:spcPts val="0"/>
              </a:spcAft>
              <a:buSzPts val="3200"/>
              <a:buNone/>
              <a:defRPr sz="3200"/>
            </a:lvl7pPr>
            <a:lvl8pPr lvl="7" algn="ctr" rtl="0">
              <a:lnSpc>
                <a:spcPct val="100000"/>
              </a:lnSpc>
              <a:spcBef>
                <a:spcPts val="0"/>
              </a:spcBef>
              <a:spcAft>
                <a:spcPts val="0"/>
              </a:spcAft>
              <a:buSzPts val="3200"/>
              <a:buNone/>
              <a:defRPr sz="3200"/>
            </a:lvl8pPr>
            <a:lvl9pPr lvl="8" algn="ctr" rtl="0">
              <a:lnSpc>
                <a:spcPct val="100000"/>
              </a:lnSpc>
              <a:spcBef>
                <a:spcPts val="0"/>
              </a:spcBef>
              <a:spcAft>
                <a:spcPts val="0"/>
              </a:spcAft>
              <a:buSzPts val="3200"/>
              <a:buNone/>
              <a:defRPr sz="3200"/>
            </a:lvl9pPr>
          </a:lstStyle>
          <a:p>
            <a:endParaRPr/>
          </a:p>
        </p:txBody>
      </p:sp>
      <p:sp>
        <p:nvSpPr>
          <p:cNvPr id="60" name="Google Shape;60;p15"/>
          <p:cNvSpPr txBox="1">
            <a:spLocks noGrp="1"/>
          </p:cNvSpPr>
          <p:nvPr>
            <p:ph type="sldNum" idx="12"/>
          </p:nvPr>
        </p:nvSpPr>
        <p:spPr>
          <a:xfrm>
            <a:off x="8472458" y="48156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265500" y="1425175"/>
            <a:ext cx="2638500" cy="14823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Clr>
                <a:schemeClr val="lt1"/>
              </a:buClr>
              <a:buSzPts val="3300"/>
              <a:buNone/>
              <a:defRPr sz="3300">
                <a:solidFill>
                  <a:schemeClr val="lt1"/>
                </a:solidFill>
              </a:defRPr>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67" name="Google Shape;67;p17"/>
          <p:cNvSpPr txBox="1">
            <a:spLocks noGrp="1"/>
          </p:cNvSpPr>
          <p:nvPr>
            <p:ph type="subTitle" idx="1"/>
          </p:nvPr>
        </p:nvSpPr>
        <p:spPr>
          <a:xfrm>
            <a:off x="265500" y="3144000"/>
            <a:ext cx="2386500" cy="7680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1pPr>
            <a:lvl2pPr lvl="1"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2pPr>
            <a:lvl3pPr lvl="2"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3pPr>
            <a:lvl4pPr lvl="3"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4pPr>
            <a:lvl5pPr lvl="4"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5pPr>
            <a:lvl6pPr lvl="5"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6pPr>
            <a:lvl7pPr lvl="6"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7pPr>
            <a:lvl8pPr lvl="7"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8pPr>
            <a:lvl9pPr lvl="8" algn="ctr" rtl="0">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9pPr>
          </a:lstStyle>
          <a:p>
            <a:endParaRPr/>
          </a:p>
        </p:txBody>
      </p:sp>
      <p:sp>
        <p:nvSpPr>
          <p:cNvPr id="68" name="Google Shape;68;p17"/>
          <p:cNvSpPr txBox="1">
            <a:spLocks noGrp="1"/>
          </p:cNvSpPr>
          <p:nvPr>
            <p:ph type="body" idx="2"/>
          </p:nvPr>
        </p:nvSpPr>
        <p:spPr>
          <a:xfrm>
            <a:off x="3972000" y="724075"/>
            <a:ext cx="4804500" cy="3695100"/>
          </a:xfrm>
          <a:prstGeom prst="rect">
            <a:avLst/>
          </a:prstGeom>
          <a:noFill/>
          <a:ln>
            <a:noFill/>
          </a:ln>
        </p:spPr>
        <p:txBody>
          <a:bodyPr spcFirstLastPara="1" wrap="square" lIns="91425" tIns="91425" rIns="91425" bIns="91425" anchor="ctr"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69" name="Google Shape;69;p17"/>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7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9"/>
          <p:cNvSpPr txBox="1">
            <a:spLocks noGrp="1"/>
          </p:cNvSpPr>
          <p:nvPr>
            <p:ph type="title"/>
          </p:nvPr>
        </p:nvSpPr>
        <p:spPr>
          <a:xfrm>
            <a:off x="311700" y="579775"/>
            <a:ext cx="54843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73" name="Google Shape;73;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74" name="Google Shape;74;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a:endParaRPr/>
          </a:p>
        </p:txBody>
      </p:sp>
      <p:sp>
        <p:nvSpPr>
          <p:cNvPr id="75" name="Google Shape;75;p19"/>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76"/>
        <p:cNvGrpSpPr/>
        <p:nvPr/>
      </p:nvGrpSpPr>
      <p:grpSpPr>
        <a:xfrm>
          <a:off x="0" y="0"/>
          <a:ext cx="0" cy="0"/>
          <a:chOff x="0" y="0"/>
          <a:chExt cx="0" cy="0"/>
        </a:xfrm>
      </p:grpSpPr>
      <p:sp>
        <p:nvSpPr>
          <p:cNvPr id="77" name="Google Shape;77;p20"/>
          <p:cNvSpPr txBox="1">
            <a:spLocks noGrp="1"/>
          </p:cNvSpPr>
          <p:nvPr>
            <p:ph type="title"/>
          </p:nvPr>
        </p:nvSpPr>
        <p:spPr>
          <a:xfrm>
            <a:off x="1829850" y="2065025"/>
            <a:ext cx="54843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78" name="Google Shape;78;p20"/>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81" name="Google Shape;81;p21"/>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rtl="0">
              <a:lnSpc>
                <a:spcPct val="100000"/>
              </a:lnSpc>
              <a:spcBef>
                <a:spcPts val="0"/>
              </a:spcBef>
              <a:spcAft>
                <a:spcPts val="0"/>
              </a:spcAft>
              <a:buSzPts val="1800"/>
              <a:buNone/>
              <a:defRPr/>
            </a:lvl1pPr>
          </a:lstStyle>
          <a:p>
            <a:endParaRPr/>
          </a:p>
        </p:txBody>
      </p:sp>
      <p:sp>
        <p:nvSpPr>
          <p:cNvPr id="84" name="Google Shape;84;p22"/>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579775"/>
            <a:ext cx="54843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355375"/>
            <a:ext cx="8520600" cy="3046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accent2"/>
              </a:buClr>
              <a:buSzPts val="1800"/>
              <a:buFont typeface="Poppins SemiBold"/>
              <a:buChar char="●"/>
              <a:defRPr sz="1800" b="0" i="0" u="none" strike="noStrike" cap="none">
                <a:solidFill>
                  <a:schemeClr val="accent2"/>
                </a:solidFill>
                <a:latin typeface="Poppins SemiBold"/>
                <a:ea typeface="Poppins SemiBold"/>
                <a:cs typeface="Poppins SemiBold"/>
                <a:sym typeface="Poppins SemiBold"/>
              </a:defRPr>
            </a:lvl1pPr>
            <a:lvl2pPr marL="914400" marR="0" lvl="1"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9pPr>
          </a:lstStyle>
          <a:p>
            <a:endParaRPr/>
          </a:p>
        </p:txBody>
      </p:sp>
      <p:sp>
        <p:nvSpPr>
          <p:cNvPr id="53" name="Google Shape;53;p13"/>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4" r:id="rId5"/>
    <p:sldLayoutId id="2147483665" r:id="rId6"/>
    <p:sldLayoutId id="2147483666" r:id="rId7"/>
    <p:sldLayoutId id="214748366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haseebindata/student-performance-predictions/dat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lookerstudio.google.com/reporting/bb61251f-e034-4d6a-8838-38ac83929f84"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3"/>
          <p:cNvSpPr txBox="1">
            <a:spLocks noGrp="1"/>
          </p:cNvSpPr>
          <p:nvPr>
            <p:ph type="ctrTitle"/>
          </p:nvPr>
        </p:nvSpPr>
        <p:spPr>
          <a:xfrm>
            <a:off x="215700" y="859800"/>
            <a:ext cx="4625721" cy="2404200"/>
          </a:xfrm>
          <a:prstGeom prst="rect">
            <a:avLst/>
          </a:prstGeom>
          <a:noFill/>
          <a:ln>
            <a:noFill/>
          </a:ln>
        </p:spPr>
        <p:txBody>
          <a:bodyPr spcFirstLastPara="1" wrap="square" lIns="91425" tIns="91425" rIns="91425" bIns="91425" anchor="ctr" anchorCtr="0">
            <a:normAutofit/>
          </a:bodyPr>
          <a:lstStyle/>
          <a:p>
            <a:pPr lvl="0"/>
            <a:r>
              <a:rPr lang="en-US" dirty="0"/>
              <a:t>STUDENTS PERFORMANCE DATA ANALYSIS</a:t>
            </a:r>
          </a:p>
        </p:txBody>
      </p:sp>
      <p:sp>
        <p:nvSpPr>
          <p:cNvPr id="90" name="Google Shape;90;p23"/>
          <p:cNvSpPr txBox="1">
            <a:spLocks noGrp="1"/>
          </p:cNvSpPr>
          <p:nvPr>
            <p:ph type="subTitle" idx="1"/>
          </p:nvPr>
        </p:nvSpPr>
        <p:spPr>
          <a:xfrm>
            <a:off x="215700" y="4283700"/>
            <a:ext cx="4248300" cy="590700"/>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35"/>
              <a:buNone/>
            </a:pPr>
            <a:r>
              <a:rPr lang="en" b="1" dirty="0"/>
              <a:t>Hawa Andini Hadi</a:t>
            </a:r>
            <a:endParaRPr b="1" dirty="0"/>
          </a:p>
        </p:txBody>
      </p:sp>
      <p:sp>
        <p:nvSpPr>
          <p:cNvPr id="91" name="Google Shape;91;p23"/>
          <p:cNvSpPr txBox="1"/>
          <p:nvPr/>
        </p:nvSpPr>
        <p:spPr>
          <a:xfrm>
            <a:off x="215700" y="3774394"/>
            <a:ext cx="4248300" cy="590700"/>
          </a:xfrm>
          <a:prstGeom prst="rect">
            <a:avLst/>
          </a:prstGeom>
          <a:noFill/>
          <a:ln>
            <a:noFill/>
          </a:ln>
        </p:spPr>
        <p:txBody>
          <a:bodyPr spcFirstLastPara="1" wrap="square" lIns="91425" tIns="91425" rIns="91425" bIns="91425" anchor="ctr" anchorCtr="0">
            <a:normAutofit fontScale="85000" lnSpcReduction="20000"/>
          </a:bodyPr>
          <a:lstStyle/>
          <a:p>
            <a:pPr marL="0" lvl="0" indent="0" algn="l" rtl="0">
              <a:spcBef>
                <a:spcPts val="0"/>
              </a:spcBef>
              <a:spcAft>
                <a:spcPts val="0"/>
              </a:spcAft>
              <a:buNone/>
            </a:pPr>
            <a:r>
              <a:rPr lang="en" sz="1900" dirty="0">
                <a:solidFill>
                  <a:srgbClr val="212121"/>
                </a:solidFill>
                <a:latin typeface="Poppins SemiBold"/>
                <a:ea typeface="Poppins SemiBold"/>
                <a:cs typeface="Poppins SemiBold"/>
                <a:sym typeface="Poppins SemiBold"/>
              </a:rPr>
              <a:t>Bootcamp Data Analyst with SQL &amp; Python using Google Platform</a:t>
            </a:r>
            <a:endParaRPr sz="1900" dirty="0">
              <a:solidFill>
                <a:srgbClr val="212121"/>
              </a:solidFill>
              <a:latin typeface="Poppins SemiBold"/>
              <a:ea typeface="Poppins SemiBold"/>
              <a:cs typeface="Poppins SemiBold"/>
              <a:sym typeface="Poppins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EAF4-B85D-E280-9E10-567339175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BA38E-1AE1-ECA5-7176-9150185BE90E}"/>
              </a:ext>
            </a:extLst>
          </p:cNvPr>
          <p:cNvSpPr>
            <a:spLocks noGrp="1"/>
          </p:cNvSpPr>
          <p:nvPr>
            <p:ph type="title"/>
          </p:nvPr>
        </p:nvSpPr>
        <p:spPr/>
        <p:txBody>
          <a:bodyPr>
            <a:normAutofit fontScale="90000"/>
          </a:bodyPr>
          <a:lstStyle/>
          <a:p>
            <a:r>
              <a:rPr lang="en-US" dirty="0"/>
              <a:t>INTRODUCTION</a:t>
            </a:r>
          </a:p>
        </p:txBody>
      </p:sp>
      <p:sp>
        <p:nvSpPr>
          <p:cNvPr id="9" name="Rectangle 8">
            <a:extLst>
              <a:ext uri="{FF2B5EF4-FFF2-40B4-BE49-F238E27FC236}">
                <a16:creationId xmlns:a16="http://schemas.microsoft.com/office/drawing/2014/main" id="{FE52551E-82F0-082B-FCD2-B25F832DBBD3}"/>
              </a:ext>
            </a:extLst>
          </p:cNvPr>
          <p:cNvSpPr/>
          <p:nvPr/>
        </p:nvSpPr>
        <p:spPr>
          <a:xfrm>
            <a:off x="408214" y="1289957"/>
            <a:ext cx="3804557" cy="276769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5B542D2-3661-685C-1BDA-0A081341703C}"/>
              </a:ext>
            </a:extLst>
          </p:cNvPr>
          <p:cNvSpPr/>
          <p:nvPr/>
        </p:nvSpPr>
        <p:spPr>
          <a:xfrm>
            <a:off x="4716235" y="1289956"/>
            <a:ext cx="3804557" cy="276769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sp>
        <p:nvSpPr>
          <p:cNvPr id="11" name="Title 1">
            <a:extLst>
              <a:ext uri="{FF2B5EF4-FFF2-40B4-BE49-F238E27FC236}">
                <a16:creationId xmlns:a16="http://schemas.microsoft.com/office/drawing/2014/main" id="{430C4680-A4C4-A4E5-0CCB-C74342A74522}"/>
              </a:ext>
            </a:extLst>
          </p:cNvPr>
          <p:cNvSpPr txBox="1">
            <a:spLocks/>
          </p:cNvSpPr>
          <p:nvPr/>
        </p:nvSpPr>
        <p:spPr>
          <a:xfrm>
            <a:off x="508908" y="1353965"/>
            <a:ext cx="1279071" cy="442177"/>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800" dirty="0"/>
              <a:t>Purpose</a:t>
            </a:r>
          </a:p>
        </p:txBody>
      </p:sp>
      <p:sp>
        <p:nvSpPr>
          <p:cNvPr id="16" name="TextBox 15">
            <a:extLst>
              <a:ext uri="{FF2B5EF4-FFF2-40B4-BE49-F238E27FC236}">
                <a16:creationId xmlns:a16="http://schemas.microsoft.com/office/drawing/2014/main" id="{83552892-3B24-713E-DAA0-F9ABCE7AD9FC}"/>
              </a:ext>
            </a:extLst>
          </p:cNvPr>
          <p:cNvSpPr txBox="1"/>
          <p:nvPr/>
        </p:nvSpPr>
        <p:spPr>
          <a:xfrm>
            <a:off x="508908" y="1804632"/>
            <a:ext cx="3320142" cy="1815882"/>
          </a:xfrm>
          <a:prstGeom prst="rect">
            <a:avLst/>
          </a:prstGeom>
          <a:noFill/>
        </p:spPr>
        <p:txBody>
          <a:bodyPr wrap="square">
            <a:spAutoFit/>
          </a:bodyPr>
          <a:lstStyle/>
          <a:p>
            <a:pPr marL="285750" indent="-285750"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Identify and analyze the key factors that affect students’ academic achievement.</a:t>
            </a:r>
          </a:p>
          <a:p>
            <a:pPr marL="285750" indent="-285750"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Develop a basic Machine Learning model to forecast students’ final grades.</a:t>
            </a:r>
          </a:p>
          <a:p>
            <a:pPr marL="285750" indent="-285750"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Present the analytical findings and predictions through an interactive dashboard.</a:t>
            </a:r>
          </a:p>
        </p:txBody>
      </p:sp>
      <p:sp>
        <p:nvSpPr>
          <p:cNvPr id="17" name="Title 1">
            <a:extLst>
              <a:ext uri="{FF2B5EF4-FFF2-40B4-BE49-F238E27FC236}">
                <a16:creationId xmlns:a16="http://schemas.microsoft.com/office/drawing/2014/main" id="{8EF37B70-D638-E762-A0CE-05D4627DE44A}"/>
              </a:ext>
            </a:extLst>
          </p:cNvPr>
          <p:cNvSpPr txBox="1">
            <a:spLocks/>
          </p:cNvSpPr>
          <p:nvPr/>
        </p:nvSpPr>
        <p:spPr>
          <a:xfrm>
            <a:off x="4923066" y="1353964"/>
            <a:ext cx="1279071" cy="442177"/>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800" dirty="0"/>
              <a:t>Tools</a:t>
            </a:r>
          </a:p>
        </p:txBody>
      </p:sp>
      <p:pic>
        <p:nvPicPr>
          <p:cNvPr id="25" name="Picture 24">
            <a:extLst>
              <a:ext uri="{FF2B5EF4-FFF2-40B4-BE49-F238E27FC236}">
                <a16:creationId xmlns:a16="http://schemas.microsoft.com/office/drawing/2014/main" id="{1031B62C-338C-9DE4-93C3-E7DD26F69631}"/>
              </a:ext>
            </a:extLst>
          </p:cNvPr>
          <p:cNvPicPr>
            <a:picLocks noChangeAspect="1"/>
          </p:cNvPicPr>
          <p:nvPr/>
        </p:nvPicPr>
        <p:blipFill>
          <a:blip r:embed="rId2"/>
          <a:stretch>
            <a:fillRect/>
          </a:stretch>
        </p:blipFill>
        <p:spPr>
          <a:xfrm>
            <a:off x="4820147" y="1804632"/>
            <a:ext cx="1065660" cy="600034"/>
          </a:xfrm>
          <a:prstGeom prst="rect">
            <a:avLst/>
          </a:prstGeom>
        </p:spPr>
      </p:pic>
      <p:pic>
        <p:nvPicPr>
          <p:cNvPr id="27" name="Picture 26">
            <a:extLst>
              <a:ext uri="{FF2B5EF4-FFF2-40B4-BE49-F238E27FC236}">
                <a16:creationId xmlns:a16="http://schemas.microsoft.com/office/drawing/2014/main" id="{373948AC-8D0B-228E-2441-1C3B1EC1AD05}"/>
              </a:ext>
            </a:extLst>
          </p:cNvPr>
          <p:cNvPicPr>
            <a:picLocks noChangeAspect="1"/>
          </p:cNvPicPr>
          <p:nvPr/>
        </p:nvPicPr>
        <p:blipFill>
          <a:blip r:embed="rId3"/>
          <a:stretch>
            <a:fillRect/>
          </a:stretch>
        </p:blipFill>
        <p:spPr>
          <a:xfrm>
            <a:off x="4770666" y="2533656"/>
            <a:ext cx="1431471" cy="611704"/>
          </a:xfrm>
          <a:prstGeom prst="rect">
            <a:avLst/>
          </a:prstGeom>
        </p:spPr>
      </p:pic>
      <p:pic>
        <p:nvPicPr>
          <p:cNvPr id="29" name="Picture 28">
            <a:extLst>
              <a:ext uri="{FF2B5EF4-FFF2-40B4-BE49-F238E27FC236}">
                <a16:creationId xmlns:a16="http://schemas.microsoft.com/office/drawing/2014/main" id="{AE41084A-F2AE-DFA1-725F-25C6D67ED819}"/>
              </a:ext>
            </a:extLst>
          </p:cNvPr>
          <p:cNvPicPr>
            <a:picLocks noChangeAspect="1"/>
          </p:cNvPicPr>
          <p:nvPr/>
        </p:nvPicPr>
        <p:blipFill>
          <a:blip r:embed="rId4"/>
          <a:stretch>
            <a:fillRect/>
          </a:stretch>
        </p:blipFill>
        <p:spPr>
          <a:xfrm>
            <a:off x="4782231" y="3049615"/>
            <a:ext cx="1408340" cy="938893"/>
          </a:xfrm>
          <a:prstGeom prst="rect">
            <a:avLst/>
          </a:prstGeom>
        </p:spPr>
      </p:pic>
      <p:sp>
        <p:nvSpPr>
          <p:cNvPr id="30" name="TextBox 29">
            <a:extLst>
              <a:ext uri="{FF2B5EF4-FFF2-40B4-BE49-F238E27FC236}">
                <a16:creationId xmlns:a16="http://schemas.microsoft.com/office/drawing/2014/main" id="{D57B3753-064A-FE63-D04A-122B2C51E687}"/>
              </a:ext>
            </a:extLst>
          </p:cNvPr>
          <p:cNvSpPr txBox="1"/>
          <p:nvPr/>
        </p:nvSpPr>
        <p:spPr>
          <a:xfrm>
            <a:off x="6110850" y="1961929"/>
            <a:ext cx="2184899" cy="313747"/>
          </a:xfrm>
          <a:prstGeom prst="rect">
            <a:avLst/>
          </a:prstGeom>
          <a:noFill/>
        </p:spPr>
        <p:txBody>
          <a:bodyPr wrap="square">
            <a:spAutoFit/>
          </a:bodyPr>
          <a:lstStyle/>
          <a:p>
            <a:pPr algn="just"/>
            <a:r>
              <a:rPr lang="en-US" b="0" dirty="0">
                <a:latin typeface="Times New Roman" panose="02020603050405020304" pitchFamily="18" charset="0"/>
                <a:cs typeface="Times New Roman" panose="02020603050405020304" pitchFamily="18" charset="0"/>
              </a:rPr>
              <a:t>Programming Language</a:t>
            </a:r>
          </a:p>
        </p:txBody>
      </p:sp>
      <p:sp>
        <p:nvSpPr>
          <p:cNvPr id="31" name="TextBox 30">
            <a:extLst>
              <a:ext uri="{FF2B5EF4-FFF2-40B4-BE49-F238E27FC236}">
                <a16:creationId xmlns:a16="http://schemas.microsoft.com/office/drawing/2014/main" id="{C8860063-59A1-8C90-5C8E-10C251A14A0D}"/>
              </a:ext>
            </a:extLst>
          </p:cNvPr>
          <p:cNvSpPr txBox="1"/>
          <p:nvPr/>
        </p:nvSpPr>
        <p:spPr>
          <a:xfrm>
            <a:off x="6110850" y="2568814"/>
            <a:ext cx="2409942" cy="830997"/>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Data Cleaning, Data Transformation, and Machine Learning (Simple Regression Model)</a:t>
            </a:r>
          </a:p>
        </p:txBody>
      </p:sp>
      <p:sp>
        <p:nvSpPr>
          <p:cNvPr id="32" name="TextBox 31">
            <a:extLst>
              <a:ext uri="{FF2B5EF4-FFF2-40B4-BE49-F238E27FC236}">
                <a16:creationId xmlns:a16="http://schemas.microsoft.com/office/drawing/2014/main" id="{D699D4F3-3232-2D5E-7A1D-AAE792F5647F}"/>
              </a:ext>
            </a:extLst>
          </p:cNvPr>
          <p:cNvSpPr txBox="1"/>
          <p:nvPr/>
        </p:nvSpPr>
        <p:spPr>
          <a:xfrm>
            <a:off x="6110850" y="3438498"/>
            <a:ext cx="2184899" cy="313747"/>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Data Visualization</a:t>
            </a:r>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088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E1417-ACD1-9DD7-EAD8-FD4280D20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400B8-68CD-0A88-EA2A-946251E04379}"/>
              </a:ext>
            </a:extLst>
          </p:cNvPr>
          <p:cNvSpPr>
            <a:spLocks noGrp="1"/>
          </p:cNvSpPr>
          <p:nvPr>
            <p:ph type="title"/>
          </p:nvPr>
        </p:nvSpPr>
        <p:spPr>
          <a:xfrm>
            <a:off x="1145315" y="228021"/>
            <a:ext cx="6984000" cy="841800"/>
          </a:xfrm>
        </p:spPr>
        <p:txBody>
          <a:bodyPr/>
          <a:lstStyle/>
          <a:p>
            <a:r>
              <a:rPr lang="en-US" dirty="0"/>
              <a:t>DATA SET</a:t>
            </a:r>
          </a:p>
        </p:txBody>
      </p:sp>
      <p:sp>
        <p:nvSpPr>
          <p:cNvPr id="7" name="TextBox 6">
            <a:extLst>
              <a:ext uri="{FF2B5EF4-FFF2-40B4-BE49-F238E27FC236}">
                <a16:creationId xmlns:a16="http://schemas.microsoft.com/office/drawing/2014/main" id="{96FE78A5-8D36-8D00-FBB4-58DFD1A78395}"/>
              </a:ext>
            </a:extLst>
          </p:cNvPr>
          <p:cNvSpPr txBox="1"/>
          <p:nvPr/>
        </p:nvSpPr>
        <p:spPr>
          <a:xfrm>
            <a:off x="64292" y="1053476"/>
            <a:ext cx="8585881" cy="307777"/>
          </a:xfrm>
          <a:prstGeom prst="rect">
            <a:avLst/>
          </a:prstGeom>
          <a:noFill/>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Source: </a:t>
            </a:r>
            <a:r>
              <a:rPr lang="en-US" dirty="0">
                <a:solidFill>
                  <a:schemeClr val="bg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https://www.kaggle.com/datasets/haseebindata/student-performance-predictions/data</a:t>
            </a:r>
            <a:endParaRPr lang="en-US" sz="1400" dirty="0">
              <a:solidFill>
                <a:schemeClr val="bg1"/>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D6BCCF3-40C9-0F27-DB28-494C493AB8DC}"/>
              </a:ext>
            </a:extLst>
          </p:cNvPr>
          <p:cNvGraphicFramePr>
            <a:graphicFrameLocks noGrp="1"/>
          </p:cNvGraphicFramePr>
          <p:nvPr>
            <p:extLst>
              <p:ext uri="{D42A27DB-BD31-4B8C-83A1-F6EECF244321}">
                <p14:modId xmlns:p14="http://schemas.microsoft.com/office/powerpoint/2010/main" val="3470205574"/>
              </p:ext>
            </p:extLst>
          </p:nvPr>
        </p:nvGraphicFramePr>
        <p:xfrm>
          <a:off x="136638" y="1652686"/>
          <a:ext cx="8870724" cy="2165350"/>
        </p:xfrm>
        <a:graphic>
          <a:graphicData uri="http://schemas.openxmlformats.org/drawingml/2006/table">
            <a:tbl>
              <a:tblPr firstRow="1" bandRow="1">
                <a:tableStyleId>{7DF18680-E054-41AD-8BC1-D1AEF772440D}</a:tableStyleId>
              </a:tblPr>
              <a:tblGrid>
                <a:gridCol w="677750">
                  <a:extLst>
                    <a:ext uri="{9D8B030D-6E8A-4147-A177-3AD203B41FA5}">
                      <a16:colId xmlns:a16="http://schemas.microsoft.com/office/drawing/2014/main" val="1381689707"/>
                    </a:ext>
                  </a:extLst>
                </a:gridCol>
                <a:gridCol w="664368">
                  <a:extLst>
                    <a:ext uri="{9D8B030D-6E8A-4147-A177-3AD203B41FA5}">
                      <a16:colId xmlns:a16="http://schemas.microsoft.com/office/drawing/2014/main" val="1145128658"/>
                    </a:ext>
                  </a:extLst>
                </a:gridCol>
                <a:gridCol w="678657">
                  <a:extLst>
                    <a:ext uri="{9D8B030D-6E8A-4147-A177-3AD203B41FA5}">
                      <a16:colId xmlns:a16="http://schemas.microsoft.com/office/drawing/2014/main" val="3772100455"/>
                    </a:ext>
                  </a:extLst>
                </a:gridCol>
                <a:gridCol w="821531">
                  <a:extLst>
                    <a:ext uri="{9D8B030D-6E8A-4147-A177-3AD203B41FA5}">
                      <a16:colId xmlns:a16="http://schemas.microsoft.com/office/drawing/2014/main" val="2570419201"/>
                    </a:ext>
                  </a:extLst>
                </a:gridCol>
                <a:gridCol w="853829">
                  <a:extLst>
                    <a:ext uri="{9D8B030D-6E8A-4147-A177-3AD203B41FA5}">
                      <a16:colId xmlns:a16="http://schemas.microsoft.com/office/drawing/2014/main" val="2131747495"/>
                    </a:ext>
                  </a:extLst>
                </a:gridCol>
                <a:gridCol w="639215">
                  <a:extLst>
                    <a:ext uri="{9D8B030D-6E8A-4147-A177-3AD203B41FA5}">
                      <a16:colId xmlns:a16="http://schemas.microsoft.com/office/drawing/2014/main" val="2462871251"/>
                    </a:ext>
                  </a:extLst>
                </a:gridCol>
                <a:gridCol w="942975">
                  <a:extLst>
                    <a:ext uri="{9D8B030D-6E8A-4147-A177-3AD203B41FA5}">
                      <a16:colId xmlns:a16="http://schemas.microsoft.com/office/drawing/2014/main" val="300568250"/>
                    </a:ext>
                  </a:extLst>
                </a:gridCol>
                <a:gridCol w="635491">
                  <a:extLst>
                    <a:ext uri="{9D8B030D-6E8A-4147-A177-3AD203B41FA5}">
                      <a16:colId xmlns:a16="http://schemas.microsoft.com/office/drawing/2014/main" val="2428395486"/>
                    </a:ext>
                  </a:extLst>
                </a:gridCol>
                <a:gridCol w="739227">
                  <a:extLst>
                    <a:ext uri="{9D8B030D-6E8A-4147-A177-3AD203B41FA5}">
                      <a16:colId xmlns:a16="http://schemas.microsoft.com/office/drawing/2014/main" val="4096636695"/>
                    </a:ext>
                  </a:extLst>
                </a:gridCol>
                <a:gridCol w="761263">
                  <a:extLst>
                    <a:ext uri="{9D8B030D-6E8A-4147-A177-3AD203B41FA5}">
                      <a16:colId xmlns:a16="http://schemas.microsoft.com/office/drawing/2014/main" val="2668700525"/>
                    </a:ext>
                  </a:extLst>
                </a:gridCol>
                <a:gridCol w="717191">
                  <a:extLst>
                    <a:ext uri="{9D8B030D-6E8A-4147-A177-3AD203B41FA5}">
                      <a16:colId xmlns:a16="http://schemas.microsoft.com/office/drawing/2014/main" val="3026486525"/>
                    </a:ext>
                  </a:extLst>
                </a:gridCol>
                <a:gridCol w="739227">
                  <a:extLst>
                    <a:ext uri="{9D8B030D-6E8A-4147-A177-3AD203B41FA5}">
                      <a16:colId xmlns:a16="http://schemas.microsoft.com/office/drawing/2014/main" val="3218341997"/>
                    </a:ext>
                  </a:extLst>
                </a:gridCol>
              </a:tblGrid>
              <a:tr h="433070">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Student_ID</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a:solidFill>
                            <a:schemeClr val="bg1"/>
                          </a:solidFill>
                          <a:effectLst/>
                          <a:latin typeface="Times New Roman" panose="02020603050405020304" pitchFamily="18" charset="0"/>
                          <a:cs typeface="Times New Roman" panose="02020603050405020304" pitchFamily="18" charset="0"/>
                        </a:rPr>
                        <a:t>Name</a:t>
                      </a:r>
                    </a:p>
                  </a:txBody>
                  <a:tcPr marL="6350" marR="6350" marT="6350" marB="0" anchor="ctr"/>
                </a:tc>
                <a:tc>
                  <a:txBody>
                    <a:bodyPr/>
                    <a:lstStyle/>
                    <a:p>
                      <a:pPr algn="l" rtl="0" fontAlgn="b">
                        <a:buNone/>
                      </a:pPr>
                      <a:r>
                        <a:rPr lang="en-US" sz="1100" b="1" i="0" u="none" strike="noStrike" dirty="0">
                          <a:solidFill>
                            <a:schemeClr val="bg1"/>
                          </a:solidFill>
                          <a:effectLst/>
                          <a:latin typeface="Times New Roman" panose="02020603050405020304" pitchFamily="18" charset="0"/>
                          <a:cs typeface="Times New Roman" panose="02020603050405020304" pitchFamily="18" charset="0"/>
                        </a:rPr>
                        <a:t>Gender</a:t>
                      </a: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Attendance_Rate</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Study_Hours_Per_Week</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Previous_Grade</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Extracurricular_Activities</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Parental_Support</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Final_Grade</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Study_Hours</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rtl="0" fontAlgn="b">
                        <a:buNone/>
                      </a:pPr>
                      <a:r>
                        <a:rPr lang="en-US" sz="1100" b="1" i="0" u="none" strike="noStrike" dirty="0">
                          <a:solidFill>
                            <a:schemeClr val="bg1"/>
                          </a:solidFill>
                          <a:effectLst/>
                          <a:latin typeface="Times New Roman" panose="02020603050405020304" pitchFamily="18" charset="0"/>
                          <a:cs typeface="Times New Roman" panose="02020603050405020304" pitchFamily="18" charset="0"/>
                        </a:rPr>
                        <a:t>Attendance_(%)</a:t>
                      </a:r>
                    </a:p>
                  </a:txBody>
                  <a:tcPr marL="6350" marR="6350" marT="6350" marB="0" anchor="ctr"/>
                </a:tc>
                <a:tc>
                  <a:txBody>
                    <a:bodyPr/>
                    <a:lstStyle/>
                    <a:p>
                      <a:pPr algn="l" rtl="0" fontAlgn="b">
                        <a:buNone/>
                      </a:pPr>
                      <a:r>
                        <a:rPr lang="en-US" sz="1100" b="1" i="0" u="none" strike="noStrike" dirty="0" err="1">
                          <a:solidFill>
                            <a:schemeClr val="bg1"/>
                          </a:solidFill>
                          <a:effectLst/>
                          <a:latin typeface="Times New Roman" panose="02020603050405020304" pitchFamily="18" charset="0"/>
                          <a:cs typeface="Times New Roman" panose="02020603050405020304" pitchFamily="18" charset="0"/>
                        </a:rPr>
                        <a:t>Online_Classes_Taken</a:t>
                      </a:r>
                      <a:endParaRPr lang="en-US" sz="11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559777321"/>
                  </a:ext>
                </a:extLst>
              </a:tr>
              <a:tr h="433070">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1.0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John</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Male</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85.0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15.0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78.0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1.0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High</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80.0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4.8</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59.0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FALSE</a:t>
                      </a:r>
                    </a:p>
                  </a:txBody>
                  <a:tcPr marL="6350" marR="6350" marT="6350" marB="0" anchor="ctr"/>
                </a:tc>
                <a:extLst>
                  <a:ext uri="{0D108BD9-81ED-4DB2-BD59-A6C34878D82A}">
                    <a16:rowId xmlns:a16="http://schemas.microsoft.com/office/drawing/2014/main" val="3322813470"/>
                  </a:ext>
                </a:extLst>
              </a:tr>
              <a:tr h="433070">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2.0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Sarah</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Female</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90.0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20.0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85.0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2.0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Medium</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87.0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2.2</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70.0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TRUE</a:t>
                      </a:r>
                    </a:p>
                  </a:txBody>
                  <a:tcPr marL="6350" marR="6350" marT="6350" marB="0" anchor="ctr"/>
                </a:tc>
                <a:extLst>
                  <a:ext uri="{0D108BD9-81ED-4DB2-BD59-A6C34878D82A}">
                    <a16:rowId xmlns:a16="http://schemas.microsoft.com/office/drawing/2014/main" val="3615845209"/>
                  </a:ext>
                </a:extLst>
              </a:tr>
              <a:tr h="433070">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3.0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Alex</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Male</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78.0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10.0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65.0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Low</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68.0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4.6</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92.0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FALSE</a:t>
                      </a:r>
                    </a:p>
                  </a:txBody>
                  <a:tcPr marL="6350" marR="6350" marT="6350" marB="0" anchor="ctr"/>
                </a:tc>
                <a:extLst>
                  <a:ext uri="{0D108BD9-81ED-4DB2-BD59-A6C34878D82A}">
                    <a16:rowId xmlns:a16="http://schemas.microsoft.com/office/drawing/2014/main" val="1299818588"/>
                  </a:ext>
                </a:extLst>
              </a:tr>
              <a:tr h="433070">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4.0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Michael</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Male</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92.0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25.0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90.0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3.0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High</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92.0</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2.9</a:t>
                      </a:r>
                    </a:p>
                  </a:txBody>
                  <a:tcPr marL="6350" marR="6350" marT="6350" marB="0" anchor="ctr"/>
                </a:tc>
                <a:tc>
                  <a:txBody>
                    <a:bodyPr/>
                    <a:lstStyle/>
                    <a:p>
                      <a:pPr algn="ctr" fontAlgn="b">
                        <a:buNone/>
                      </a:pPr>
                      <a:r>
                        <a:rPr lang="en-US" sz="1200" b="0" i="0" u="none" strike="noStrike">
                          <a:solidFill>
                            <a:schemeClr val="accent5"/>
                          </a:solidFill>
                          <a:effectLst/>
                          <a:latin typeface="Times New Roman" panose="02020603050405020304" pitchFamily="18" charset="0"/>
                          <a:cs typeface="Times New Roman" panose="02020603050405020304" pitchFamily="18" charset="0"/>
                        </a:rPr>
                        <a:t>96.0</a:t>
                      </a:r>
                    </a:p>
                  </a:txBody>
                  <a:tcPr marL="6350" marR="6350" marT="6350" marB="0" anchor="ctr"/>
                </a:tc>
                <a:tc>
                  <a:txBody>
                    <a:bodyPr/>
                    <a:lstStyle/>
                    <a:p>
                      <a:pPr algn="ctr" fontAlgn="b">
                        <a:buNone/>
                      </a:pPr>
                      <a:r>
                        <a:rPr lang="en-US" sz="1200" b="0" i="0" u="none" strike="noStrike" dirty="0">
                          <a:solidFill>
                            <a:schemeClr val="accent5"/>
                          </a:solidFill>
                          <a:effectLst/>
                          <a:latin typeface="Times New Roman" panose="02020603050405020304" pitchFamily="18" charset="0"/>
                          <a:cs typeface="Times New Roman" panose="02020603050405020304" pitchFamily="18" charset="0"/>
                        </a:rPr>
                        <a:t>FALSE</a:t>
                      </a:r>
                    </a:p>
                  </a:txBody>
                  <a:tcPr marL="6350" marR="6350" marT="6350" marB="0" anchor="ctr"/>
                </a:tc>
                <a:extLst>
                  <a:ext uri="{0D108BD9-81ED-4DB2-BD59-A6C34878D82A}">
                    <a16:rowId xmlns:a16="http://schemas.microsoft.com/office/drawing/2014/main" val="1112627962"/>
                  </a:ext>
                </a:extLst>
              </a:tr>
            </a:tbl>
          </a:graphicData>
        </a:graphic>
      </p:graphicFrame>
    </p:spTree>
    <p:extLst>
      <p:ext uri="{BB962C8B-B14F-4D97-AF65-F5344CB8AC3E}">
        <p14:creationId xmlns:p14="http://schemas.microsoft.com/office/powerpoint/2010/main" val="205525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21DE2-1597-DF48-9A32-E805CEFB7ABB}"/>
              </a:ext>
            </a:extLst>
          </p:cNvPr>
          <p:cNvSpPr>
            <a:spLocks noGrp="1"/>
          </p:cNvSpPr>
          <p:nvPr>
            <p:ph type="title"/>
          </p:nvPr>
        </p:nvSpPr>
        <p:spPr>
          <a:xfrm>
            <a:off x="951412" y="1793081"/>
            <a:ext cx="7563938" cy="1343325"/>
          </a:xfrm>
        </p:spPr>
        <p:txBody>
          <a:bodyPr>
            <a:noAutofit/>
          </a:bodyPr>
          <a:lstStyle/>
          <a:p>
            <a:r>
              <a:rPr lang="en-US" sz="2800" dirty="0"/>
              <a:t>DATA CLEANING, DATA TRANSFORMATION, AND MACHINE LEARNING (SIMPLE REGRESSION MODEL)</a:t>
            </a:r>
          </a:p>
        </p:txBody>
      </p:sp>
    </p:spTree>
    <p:extLst>
      <p:ext uri="{BB962C8B-B14F-4D97-AF65-F5344CB8AC3E}">
        <p14:creationId xmlns:p14="http://schemas.microsoft.com/office/powerpoint/2010/main" val="94420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31A-05B4-332D-673B-B9951EAD5F4C}"/>
              </a:ext>
            </a:extLst>
          </p:cNvPr>
          <p:cNvSpPr>
            <a:spLocks noGrp="1"/>
          </p:cNvSpPr>
          <p:nvPr>
            <p:ph type="title"/>
          </p:nvPr>
        </p:nvSpPr>
        <p:spPr>
          <a:xfrm>
            <a:off x="225975" y="478833"/>
            <a:ext cx="6710606" cy="572700"/>
          </a:xfrm>
        </p:spPr>
        <p:txBody>
          <a:bodyPr>
            <a:normAutofit/>
          </a:bodyPr>
          <a:lstStyle/>
          <a:p>
            <a:r>
              <a:rPr lang="en-US" sz="2400" dirty="0"/>
              <a:t>DATA HANDLING AND CLEANING</a:t>
            </a:r>
          </a:p>
        </p:txBody>
      </p:sp>
      <p:sp>
        <p:nvSpPr>
          <p:cNvPr id="3" name="Text Placeholder 2">
            <a:extLst>
              <a:ext uri="{FF2B5EF4-FFF2-40B4-BE49-F238E27FC236}">
                <a16:creationId xmlns:a16="http://schemas.microsoft.com/office/drawing/2014/main" id="{A83CAFB7-C195-27E6-CDC1-11C8E4027057}"/>
              </a:ext>
            </a:extLst>
          </p:cNvPr>
          <p:cNvSpPr>
            <a:spLocks noGrp="1"/>
          </p:cNvSpPr>
          <p:nvPr>
            <p:ph type="body" idx="1"/>
          </p:nvPr>
        </p:nvSpPr>
        <p:spPr>
          <a:xfrm>
            <a:off x="320197" y="1259251"/>
            <a:ext cx="2977834" cy="3033763"/>
          </a:xfrm>
        </p:spPr>
        <p:txBody>
          <a:bodyPr>
            <a:normAutofit fontScale="92500"/>
          </a:bodyPr>
          <a:lstStyle/>
          <a:p>
            <a:pPr marL="139700" indent="0" algn="just">
              <a:buNone/>
            </a:pPr>
            <a:r>
              <a:rPr lang="en-US" dirty="0">
                <a:latin typeface="Times New Roman" panose="02020603050405020304" pitchFamily="18" charset="0"/>
                <a:cs typeface="Times New Roman" panose="02020603050405020304" pitchFamily="18" charset="0"/>
              </a:rPr>
              <a:t>Before importing the dataset into Google Colab, the dataset was first analyzed, and the columns containing text values were converted into numeric form, such as Gender, Parental Support, and Online Classes Taken.</a:t>
            </a:r>
          </a:p>
          <a:p>
            <a:pPr marL="139700" indent="0" algn="just">
              <a:buNone/>
            </a:pPr>
            <a:endParaRPr lang="en-US" dirty="0">
              <a:latin typeface="Times New Roman" panose="02020603050405020304" pitchFamily="18" charset="0"/>
              <a:cs typeface="Times New Roman" panose="02020603050405020304" pitchFamily="18" charset="0"/>
            </a:endParaRPr>
          </a:p>
          <a:p>
            <a:pPr marL="139700" indent="0" algn="just">
              <a:buNone/>
            </a:pPr>
            <a:r>
              <a:rPr lang="en-US" dirty="0">
                <a:latin typeface="Times New Roman" panose="02020603050405020304" pitchFamily="18" charset="0"/>
                <a:cs typeface="Times New Roman" panose="02020603050405020304" pitchFamily="18" charset="0"/>
              </a:rPr>
              <a:t>After importing the dataset into Google Colab, the data was checked for missing values, data types of each column, and duplicate records using the Python programming language.</a:t>
            </a:r>
          </a:p>
          <a:p>
            <a:pPr marL="139700" indent="0">
              <a:buNone/>
            </a:pPr>
            <a:endParaRPr lang="en-US" dirty="0"/>
          </a:p>
        </p:txBody>
      </p:sp>
      <p:pic>
        <p:nvPicPr>
          <p:cNvPr id="8" name="Picture 7">
            <a:extLst>
              <a:ext uri="{FF2B5EF4-FFF2-40B4-BE49-F238E27FC236}">
                <a16:creationId xmlns:a16="http://schemas.microsoft.com/office/drawing/2014/main" id="{B6FEF0FC-8F15-6FC5-379B-A55CFC54D8DC}"/>
              </a:ext>
            </a:extLst>
          </p:cNvPr>
          <p:cNvPicPr>
            <a:picLocks noChangeAspect="1"/>
          </p:cNvPicPr>
          <p:nvPr/>
        </p:nvPicPr>
        <p:blipFill>
          <a:blip r:embed="rId2"/>
          <a:stretch>
            <a:fillRect/>
          </a:stretch>
        </p:blipFill>
        <p:spPr>
          <a:xfrm>
            <a:off x="3511071" y="2021208"/>
            <a:ext cx="2511110" cy="1509851"/>
          </a:xfrm>
          <a:prstGeom prst="rect">
            <a:avLst/>
          </a:prstGeom>
        </p:spPr>
      </p:pic>
      <p:sp>
        <p:nvSpPr>
          <p:cNvPr id="13" name="Title 1">
            <a:extLst>
              <a:ext uri="{FF2B5EF4-FFF2-40B4-BE49-F238E27FC236}">
                <a16:creationId xmlns:a16="http://schemas.microsoft.com/office/drawing/2014/main" id="{43577C26-5EB4-E2EC-0F17-FCDB01C1A32E}"/>
              </a:ext>
            </a:extLst>
          </p:cNvPr>
          <p:cNvSpPr txBox="1">
            <a:spLocks/>
          </p:cNvSpPr>
          <p:nvPr/>
        </p:nvSpPr>
        <p:spPr>
          <a:xfrm>
            <a:off x="6597221" y="1051533"/>
            <a:ext cx="1423845" cy="35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200" dirty="0"/>
              <a:t>Missing values</a:t>
            </a:r>
          </a:p>
        </p:txBody>
      </p:sp>
      <p:pic>
        <p:nvPicPr>
          <p:cNvPr id="15" name="Picture 14">
            <a:extLst>
              <a:ext uri="{FF2B5EF4-FFF2-40B4-BE49-F238E27FC236}">
                <a16:creationId xmlns:a16="http://schemas.microsoft.com/office/drawing/2014/main" id="{1DEE200F-5DD7-11E7-A467-00A6836B7C52}"/>
              </a:ext>
            </a:extLst>
          </p:cNvPr>
          <p:cNvPicPr>
            <a:picLocks noChangeAspect="1"/>
          </p:cNvPicPr>
          <p:nvPr/>
        </p:nvPicPr>
        <p:blipFill>
          <a:blip r:embed="rId3"/>
          <a:stretch>
            <a:fillRect/>
          </a:stretch>
        </p:blipFill>
        <p:spPr>
          <a:xfrm>
            <a:off x="6448262" y="1408779"/>
            <a:ext cx="1721764" cy="3072026"/>
          </a:xfrm>
          <a:prstGeom prst="rect">
            <a:avLst/>
          </a:prstGeom>
        </p:spPr>
      </p:pic>
    </p:spTree>
    <p:extLst>
      <p:ext uri="{BB962C8B-B14F-4D97-AF65-F5344CB8AC3E}">
        <p14:creationId xmlns:p14="http://schemas.microsoft.com/office/powerpoint/2010/main" val="3174016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3566-D222-C733-2E37-D95AA0DD0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72F8C-9D8E-29BD-7F54-0FE58188A796}"/>
              </a:ext>
            </a:extLst>
          </p:cNvPr>
          <p:cNvSpPr>
            <a:spLocks noGrp="1"/>
          </p:cNvSpPr>
          <p:nvPr>
            <p:ph type="title"/>
          </p:nvPr>
        </p:nvSpPr>
        <p:spPr>
          <a:xfrm>
            <a:off x="125962" y="495353"/>
            <a:ext cx="6710606" cy="572700"/>
          </a:xfrm>
        </p:spPr>
        <p:txBody>
          <a:bodyPr>
            <a:normAutofit/>
          </a:bodyPr>
          <a:lstStyle/>
          <a:p>
            <a:r>
              <a:rPr lang="en-US" sz="2400" dirty="0"/>
              <a:t>DATA HANDLING AND CLEANING</a:t>
            </a:r>
          </a:p>
        </p:txBody>
      </p:sp>
      <p:sp>
        <p:nvSpPr>
          <p:cNvPr id="3" name="Text Placeholder 2">
            <a:extLst>
              <a:ext uri="{FF2B5EF4-FFF2-40B4-BE49-F238E27FC236}">
                <a16:creationId xmlns:a16="http://schemas.microsoft.com/office/drawing/2014/main" id="{7D5C313F-341B-0D2F-94A7-1447DD62E809}"/>
              </a:ext>
            </a:extLst>
          </p:cNvPr>
          <p:cNvSpPr>
            <a:spLocks noGrp="1"/>
          </p:cNvSpPr>
          <p:nvPr>
            <p:ph type="body" idx="1"/>
          </p:nvPr>
        </p:nvSpPr>
        <p:spPr>
          <a:xfrm>
            <a:off x="280703" y="1146048"/>
            <a:ext cx="3514912" cy="3276651"/>
          </a:xfrm>
        </p:spPr>
        <p:txBody>
          <a:bodyPr>
            <a:normAutofit fontScale="85000" lnSpcReduction="10000"/>
          </a:bodyPr>
          <a:lstStyle/>
          <a:p>
            <a:pPr marL="139700" indent="0" algn="just">
              <a:buNone/>
            </a:pPr>
            <a:r>
              <a:rPr lang="en-US" dirty="0">
                <a:latin typeface="Times New Roman" panose="02020603050405020304" pitchFamily="18" charset="0"/>
                <a:cs typeface="Times New Roman" panose="02020603050405020304" pitchFamily="18" charset="0"/>
              </a:rPr>
              <a:t>If there are columns with missing values, they will be cleaned through several steps, such as:</a:t>
            </a:r>
          </a:p>
          <a:p>
            <a:pPr algn="just"/>
            <a:r>
              <a:rPr lang="en-US" dirty="0">
                <a:latin typeface="Times New Roman" panose="02020603050405020304" pitchFamily="18" charset="0"/>
                <a:cs typeface="Times New Roman" panose="02020603050405020304" pitchFamily="18" charset="0"/>
              </a:rPr>
              <a:t>Renaming the </a:t>
            </a:r>
            <a:r>
              <a:rPr lang="en-US" dirty="0" err="1">
                <a:latin typeface="Times New Roman" panose="02020603050405020304" pitchFamily="18" charset="0"/>
                <a:cs typeface="Times New Roman" panose="02020603050405020304" pitchFamily="18" charset="0"/>
              </a:rPr>
              <a:t>Student_ID</a:t>
            </a:r>
            <a:r>
              <a:rPr lang="en-US" dirty="0">
                <a:latin typeface="Times New Roman" panose="02020603050405020304" pitchFamily="18" charset="0"/>
                <a:cs typeface="Times New Roman" panose="02020603050405020304" pitchFamily="18" charset="0"/>
              </a:rPr>
              <a:t> column to sequential IDs (e.g., S001, S002, and so on) to ensure that each record has a unique identifier and to prevent missing values in the ID field.</a:t>
            </a:r>
          </a:p>
          <a:p>
            <a:pPr algn="just"/>
            <a:r>
              <a:rPr lang="en-US" dirty="0">
                <a:latin typeface="Times New Roman" panose="02020603050405020304" pitchFamily="18" charset="0"/>
                <a:cs typeface="Times New Roman" panose="02020603050405020304" pitchFamily="18" charset="0"/>
              </a:rPr>
              <a:t>Removing rows where both the Name and Gender columns are missing.</a:t>
            </a:r>
          </a:p>
          <a:p>
            <a:pPr algn="just"/>
            <a:r>
              <a:rPr lang="en-US" dirty="0">
                <a:latin typeface="Times New Roman" panose="02020603050405020304" pitchFamily="18" charset="0"/>
                <a:cs typeface="Times New Roman" panose="02020603050405020304" pitchFamily="18" charset="0"/>
              </a:rPr>
              <a:t>Filling missing names when Gender is available by assigning labels such as </a:t>
            </a:r>
            <a:r>
              <a:rPr lang="en-US" dirty="0" err="1">
                <a:latin typeface="Times New Roman" panose="02020603050405020304" pitchFamily="18" charset="0"/>
                <a:cs typeface="Times New Roman" panose="02020603050405020304" pitchFamily="18" charset="0"/>
              </a:rPr>
              <a:t>Unknown_Male</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Unknown_Female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Handling missing values using Mode and Median Imputation for columns such as </a:t>
            </a:r>
            <a:r>
              <a:rPr lang="en-US" dirty="0" err="1">
                <a:latin typeface="Times New Roman" panose="02020603050405020304" pitchFamily="18" charset="0"/>
                <a:cs typeface="Times New Roman" panose="02020603050405020304" pitchFamily="18" charset="0"/>
              </a:rPr>
              <a:t>Attendance_Rate,Study_Hours_Per_Week,Previous_Grade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Extracurricular_Activities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Final_Grade</a:t>
            </a:r>
            <a:r>
              <a:rPr lang="en-US" dirty="0">
                <a:latin typeface="Times New Roman" panose="02020603050405020304" pitchFamily="18" charset="0"/>
                <a:cs typeface="Times New Roman" panose="02020603050405020304" pitchFamily="18" charset="0"/>
              </a:rPr>
              <a:t>.</a:t>
            </a:r>
          </a:p>
          <a:p>
            <a:pPr marL="139700" indent="0">
              <a:buNone/>
            </a:pPr>
            <a:endParaRPr lang="en-US" dirty="0"/>
          </a:p>
        </p:txBody>
      </p:sp>
      <p:sp>
        <p:nvSpPr>
          <p:cNvPr id="13" name="Title 1">
            <a:extLst>
              <a:ext uri="{FF2B5EF4-FFF2-40B4-BE49-F238E27FC236}">
                <a16:creationId xmlns:a16="http://schemas.microsoft.com/office/drawing/2014/main" id="{B5A53131-4E65-30B0-9045-7FF39B9363B5}"/>
              </a:ext>
            </a:extLst>
          </p:cNvPr>
          <p:cNvSpPr txBox="1">
            <a:spLocks/>
          </p:cNvSpPr>
          <p:nvPr/>
        </p:nvSpPr>
        <p:spPr>
          <a:xfrm>
            <a:off x="3826611" y="1150613"/>
            <a:ext cx="1423845" cy="35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1200" dirty="0"/>
              <a:t>Before</a:t>
            </a:r>
          </a:p>
        </p:txBody>
      </p:sp>
      <p:pic>
        <p:nvPicPr>
          <p:cNvPr id="5" name="Picture 4">
            <a:extLst>
              <a:ext uri="{FF2B5EF4-FFF2-40B4-BE49-F238E27FC236}">
                <a16:creationId xmlns:a16="http://schemas.microsoft.com/office/drawing/2014/main" id="{1851A638-707B-F233-22FD-06BDFF074C87}"/>
              </a:ext>
            </a:extLst>
          </p:cNvPr>
          <p:cNvPicPr>
            <a:picLocks noChangeAspect="1"/>
          </p:cNvPicPr>
          <p:nvPr/>
        </p:nvPicPr>
        <p:blipFill>
          <a:blip r:embed="rId2"/>
          <a:srcRect l="23291"/>
          <a:stretch>
            <a:fillRect/>
          </a:stretch>
        </p:blipFill>
        <p:spPr>
          <a:xfrm>
            <a:off x="5409031" y="1421108"/>
            <a:ext cx="926447" cy="1967432"/>
          </a:xfrm>
          <a:prstGeom prst="rect">
            <a:avLst/>
          </a:prstGeom>
        </p:spPr>
      </p:pic>
      <p:pic>
        <p:nvPicPr>
          <p:cNvPr id="9" name="Picture 8">
            <a:extLst>
              <a:ext uri="{FF2B5EF4-FFF2-40B4-BE49-F238E27FC236}">
                <a16:creationId xmlns:a16="http://schemas.microsoft.com/office/drawing/2014/main" id="{D4D66E21-FDC0-5D50-6C3D-19F856029182}"/>
              </a:ext>
            </a:extLst>
          </p:cNvPr>
          <p:cNvPicPr>
            <a:picLocks noChangeAspect="1"/>
          </p:cNvPicPr>
          <p:nvPr/>
        </p:nvPicPr>
        <p:blipFill>
          <a:blip r:embed="rId3"/>
          <a:stretch>
            <a:fillRect/>
          </a:stretch>
        </p:blipFill>
        <p:spPr>
          <a:xfrm>
            <a:off x="4105469" y="1452819"/>
            <a:ext cx="1024704" cy="1967432"/>
          </a:xfrm>
          <a:prstGeom prst="rect">
            <a:avLst/>
          </a:prstGeom>
        </p:spPr>
      </p:pic>
      <p:sp>
        <p:nvSpPr>
          <p:cNvPr id="11" name="Title 1">
            <a:extLst>
              <a:ext uri="{FF2B5EF4-FFF2-40B4-BE49-F238E27FC236}">
                <a16:creationId xmlns:a16="http://schemas.microsoft.com/office/drawing/2014/main" id="{D0156512-EDAC-5F59-79CD-3714C836CEE8}"/>
              </a:ext>
            </a:extLst>
          </p:cNvPr>
          <p:cNvSpPr txBox="1">
            <a:spLocks/>
          </p:cNvSpPr>
          <p:nvPr/>
        </p:nvSpPr>
        <p:spPr>
          <a:xfrm>
            <a:off x="5202882" y="1095573"/>
            <a:ext cx="1423845" cy="35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1200" dirty="0"/>
              <a:t>After</a:t>
            </a:r>
          </a:p>
        </p:txBody>
      </p:sp>
      <p:pic>
        <p:nvPicPr>
          <p:cNvPr id="16" name="Picture 15">
            <a:extLst>
              <a:ext uri="{FF2B5EF4-FFF2-40B4-BE49-F238E27FC236}">
                <a16:creationId xmlns:a16="http://schemas.microsoft.com/office/drawing/2014/main" id="{9DDEBB01-5978-6623-68D0-3D8E8770EC69}"/>
              </a:ext>
            </a:extLst>
          </p:cNvPr>
          <p:cNvPicPr>
            <a:picLocks noChangeAspect="1"/>
          </p:cNvPicPr>
          <p:nvPr/>
        </p:nvPicPr>
        <p:blipFill>
          <a:blip r:embed="rId4"/>
          <a:srcRect t="9916"/>
          <a:stretch>
            <a:fillRect/>
          </a:stretch>
        </p:blipFill>
        <p:spPr>
          <a:xfrm>
            <a:off x="6757867" y="1436309"/>
            <a:ext cx="1735552" cy="2749928"/>
          </a:xfrm>
          <a:prstGeom prst="rect">
            <a:avLst/>
          </a:prstGeom>
        </p:spPr>
      </p:pic>
      <p:sp>
        <p:nvSpPr>
          <p:cNvPr id="17" name="Title 1">
            <a:extLst>
              <a:ext uri="{FF2B5EF4-FFF2-40B4-BE49-F238E27FC236}">
                <a16:creationId xmlns:a16="http://schemas.microsoft.com/office/drawing/2014/main" id="{75C2D8A2-D09B-1984-54AE-0DE913F46C97}"/>
              </a:ext>
            </a:extLst>
          </p:cNvPr>
          <p:cNvSpPr txBox="1">
            <a:spLocks/>
          </p:cNvSpPr>
          <p:nvPr/>
        </p:nvSpPr>
        <p:spPr>
          <a:xfrm>
            <a:off x="6936581" y="1036515"/>
            <a:ext cx="1423845" cy="35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200" dirty="0"/>
              <a:t>Missing values</a:t>
            </a:r>
          </a:p>
        </p:txBody>
      </p:sp>
    </p:spTree>
    <p:extLst>
      <p:ext uri="{BB962C8B-B14F-4D97-AF65-F5344CB8AC3E}">
        <p14:creationId xmlns:p14="http://schemas.microsoft.com/office/powerpoint/2010/main" val="1284117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488C-2D7A-DFD6-8ED3-5412052F86CD}"/>
              </a:ext>
            </a:extLst>
          </p:cNvPr>
          <p:cNvSpPr>
            <a:spLocks noGrp="1"/>
          </p:cNvSpPr>
          <p:nvPr>
            <p:ph type="title"/>
          </p:nvPr>
        </p:nvSpPr>
        <p:spPr>
          <a:xfrm>
            <a:off x="165756" y="387054"/>
            <a:ext cx="5484300" cy="572700"/>
          </a:xfrm>
        </p:spPr>
        <p:txBody>
          <a:bodyPr>
            <a:normAutofit/>
          </a:bodyPr>
          <a:lstStyle/>
          <a:p>
            <a:r>
              <a:rPr lang="en-US" sz="2400" dirty="0"/>
              <a:t>COLUMN REMOVAL</a:t>
            </a:r>
          </a:p>
        </p:txBody>
      </p:sp>
      <p:sp>
        <p:nvSpPr>
          <p:cNvPr id="3" name="Text Placeholder 2">
            <a:extLst>
              <a:ext uri="{FF2B5EF4-FFF2-40B4-BE49-F238E27FC236}">
                <a16:creationId xmlns:a16="http://schemas.microsoft.com/office/drawing/2014/main" id="{8A8C8408-D9A1-25AC-D8C6-10FCADBBBE26}"/>
              </a:ext>
            </a:extLst>
          </p:cNvPr>
          <p:cNvSpPr>
            <a:spLocks noGrp="1"/>
          </p:cNvSpPr>
          <p:nvPr>
            <p:ph type="body" idx="1"/>
          </p:nvPr>
        </p:nvSpPr>
        <p:spPr>
          <a:xfrm>
            <a:off x="165756" y="1152474"/>
            <a:ext cx="3267319" cy="2972386"/>
          </a:xfrm>
        </p:spPr>
        <p:txBody>
          <a:bodyPr>
            <a:normAutofit fontScale="85000" lnSpcReduction="10000"/>
          </a:bodyPr>
          <a:lstStyle/>
          <a:p>
            <a:pPr marL="139700" indent="0" algn="just">
              <a:buNone/>
            </a:pPr>
            <a:r>
              <a:rPr lang="en-US" dirty="0">
                <a:latin typeface="Times New Roman" panose="02020603050405020304" pitchFamily="18" charset="0"/>
                <a:cs typeface="Times New Roman" panose="02020603050405020304" pitchFamily="18" charset="0"/>
              </a:rPr>
              <a:t>Based on the descriptive analysis, it was found that the dataset contained two attributes representing student attendance levels: </a:t>
            </a:r>
            <a:r>
              <a:rPr lang="en-US" dirty="0" err="1">
                <a:latin typeface="Times New Roman" panose="02020603050405020304" pitchFamily="18" charset="0"/>
                <a:cs typeface="Times New Roman" panose="02020603050405020304" pitchFamily="18" charset="0"/>
              </a:rPr>
              <a:t>Attendance_Rate</a:t>
            </a:r>
            <a:r>
              <a:rPr lang="en-US" dirty="0">
                <a:latin typeface="Times New Roman" panose="02020603050405020304" pitchFamily="18" charset="0"/>
                <a:cs typeface="Times New Roman" panose="02020603050405020304" pitchFamily="18" charset="0"/>
              </a:rPr>
              <a:t> and Attendance_(%).</a:t>
            </a:r>
          </a:p>
          <a:p>
            <a:pPr marL="139700" indent="0" algn="just">
              <a:buNone/>
            </a:pPr>
            <a:endParaRPr lang="en-US" dirty="0">
              <a:latin typeface="Times New Roman" panose="02020603050405020304" pitchFamily="18" charset="0"/>
              <a:cs typeface="Times New Roman" panose="02020603050405020304" pitchFamily="18" charset="0"/>
            </a:endParaRPr>
          </a:p>
          <a:p>
            <a:pPr marL="139700" indent="0" algn="just">
              <a:buNone/>
            </a:pPr>
            <a:r>
              <a:rPr lang="en-US" dirty="0">
                <a:latin typeface="Times New Roman" panose="02020603050405020304" pitchFamily="18" charset="0"/>
                <a:cs typeface="Times New Roman" panose="02020603050405020304" pitchFamily="18" charset="0"/>
              </a:rPr>
              <a:t>Upon further examination, the Attendance_(%) column was found to contain invalid values (e.g., 200%) and missing entries, while </a:t>
            </a:r>
            <a:r>
              <a:rPr lang="en-US" dirty="0" err="1">
                <a:latin typeface="Times New Roman" panose="02020603050405020304" pitchFamily="18" charset="0"/>
                <a:cs typeface="Times New Roman" panose="02020603050405020304" pitchFamily="18" charset="0"/>
              </a:rPr>
              <a:t>Attendance_Rate</a:t>
            </a:r>
            <a:r>
              <a:rPr lang="en-US" dirty="0">
                <a:latin typeface="Times New Roman" panose="02020603050405020304" pitchFamily="18" charset="0"/>
                <a:cs typeface="Times New Roman" panose="02020603050405020304" pitchFamily="18" charset="0"/>
              </a:rPr>
              <a:t> showed a stable and consistent distribution.</a:t>
            </a:r>
          </a:p>
          <a:p>
            <a:pPr marL="139700" indent="0" algn="just">
              <a:buNone/>
            </a:pPr>
            <a:endParaRPr lang="en-US" dirty="0">
              <a:latin typeface="Times New Roman" panose="02020603050405020304" pitchFamily="18" charset="0"/>
              <a:cs typeface="Times New Roman" panose="02020603050405020304" pitchFamily="18" charset="0"/>
            </a:endParaRPr>
          </a:p>
          <a:p>
            <a:pPr marL="139700" indent="0" algn="just">
              <a:buNone/>
            </a:pPr>
            <a:r>
              <a:rPr lang="en-US" dirty="0">
                <a:latin typeface="Times New Roman" panose="02020603050405020304" pitchFamily="18" charset="0"/>
                <a:cs typeface="Times New Roman" panose="02020603050405020304" pitchFamily="18" charset="0"/>
              </a:rPr>
              <a:t>To maintain data consistency and avoid duplication, the Attendance_(%) column was removed from the dataset.</a:t>
            </a:r>
          </a:p>
          <a:p>
            <a:pPr marL="139700" indent="0">
              <a:buNone/>
            </a:pPr>
            <a:endParaRPr lang="en-US" dirty="0"/>
          </a:p>
        </p:txBody>
      </p:sp>
      <p:pic>
        <p:nvPicPr>
          <p:cNvPr id="5" name="Picture 4">
            <a:extLst>
              <a:ext uri="{FF2B5EF4-FFF2-40B4-BE49-F238E27FC236}">
                <a16:creationId xmlns:a16="http://schemas.microsoft.com/office/drawing/2014/main" id="{2A69270D-CE45-352B-F4F1-9E56E2925D3C}"/>
              </a:ext>
            </a:extLst>
          </p:cNvPr>
          <p:cNvPicPr>
            <a:picLocks noChangeAspect="1"/>
          </p:cNvPicPr>
          <p:nvPr/>
        </p:nvPicPr>
        <p:blipFill>
          <a:blip r:embed="rId2"/>
          <a:srcRect r="15404"/>
          <a:stretch>
            <a:fillRect/>
          </a:stretch>
        </p:blipFill>
        <p:spPr>
          <a:xfrm>
            <a:off x="3668345" y="1223371"/>
            <a:ext cx="1409306" cy="2972387"/>
          </a:xfrm>
          <a:prstGeom prst="rect">
            <a:avLst/>
          </a:prstGeom>
        </p:spPr>
      </p:pic>
      <p:pic>
        <p:nvPicPr>
          <p:cNvPr id="6" name="Picture 5">
            <a:extLst>
              <a:ext uri="{FF2B5EF4-FFF2-40B4-BE49-F238E27FC236}">
                <a16:creationId xmlns:a16="http://schemas.microsoft.com/office/drawing/2014/main" id="{5C0DABDB-161A-1901-048C-C45CC86BC9B7}"/>
              </a:ext>
            </a:extLst>
          </p:cNvPr>
          <p:cNvPicPr>
            <a:picLocks noChangeAspect="1"/>
          </p:cNvPicPr>
          <p:nvPr/>
        </p:nvPicPr>
        <p:blipFill>
          <a:blip r:embed="rId3"/>
          <a:srcRect t="9916" r="12282"/>
          <a:stretch>
            <a:fillRect/>
          </a:stretch>
        </p:blipFill>
        <p:spPr>
          <a:xfrm>
            <a:off x="5410825" y="1223371"/>
            <a:ext cx="1512972" cy="2732913"/>
          </a:xfrm>
          <a:prstGeom prst="rect">
            <a:avLst/>
          </a:prstGeom>
        </p:spPr>
      </p:pic>
      <p:sp>
        <p:nvSpPr>
          <p:cNvPr id="7" name="Title 1">
            <a:extLst>
              <a:ext uri="{FF2B5EF4-FFF2-40B4-BE49-F238E27FC236}">
                <a16:creationId xmlns:a16="http://schemas.microsoft.com/office/drawing/2014/main" id="{5021AF86-42A9-161B-42C5-7C92D0B16CD1}"/>
              </a:ext>
            </a:extLst>
          </p:cNvPr>
          <p:cNvSpPr txBox="1">
            <a:spLocks/>
          </p:cNvSpPr>
          <p:nvPr/>
        </p:nvSpPr>
        <p:spPr>
          <a:xfrm>
            <a:off x="5410825" y="912940"/>
            <a:ext cx="1423845" cy="35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1200" dirty="0"/>
              <a:t>After</a:t>
            </a:r>
          </a:p>
        </p:txBody>
      </p:sp>
      <p:sp>
        <p:nvSpPr>
          <p:cNvPr id="8" name="Title 1">
            <a:extLst>
              <a:ext uri="{FF2B5EF4-FFF2-40B4-BE49-F238E27FC236}">
                <a16:creationId xmlns:a16="http://schemas.microsoft.com/office/drawing/2014/main" id="{01DB898A-6052-F48F-3DF0-1FAC6BD3C9C2}"/>
              </a:ext>
            </a:extLst>
          </p:cNvPr>
          <p:cNvSpPr txBox="1">
            <a:spLocks/>
          </p:cNvSpPr>
          <p:nvPr/>
        </p:nvSpPr>
        <p:spPr>
          <a:xfrm>
            <a:off x="3578754" y="914964"/>
            <a:ext cx="1423845" cy="35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D606D"/>
              </a:buClr>
              <a:buSzPts val="2800"/>
              <a:buFont typeface="Poppins"/>
              <a:buNone/>
              <a:defRPr sz="2800" b="1" i="0" u="none" strike="noStrike" cap="none">
                <a:solidFill>
                  <a:srgbClr val="0D606D"/>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1200" dirty="0"/>
              <a:t>Before</a:t>
            </a:r>
          </a:p>
        </p:txBody>
      </p:sp>
      <p:pic>
        <p:nvPicPr>
          <p:cNvPr id="10" name="Picture 9">
            <a:extLst>
              <a:ext uri="{FF2B5EF4-FFF2-40B4-BE49-F238E27FC236}">
                <a16:creationId xmlns:a16="http://schemas.microsoft.com/office/drawing/2014/main" id="{2F10D8F4-8F92-6E13-D814-8676379FD17A}"/>
              </a:ext>
            </a:extLst>
          </p:cNvPr>
          <p:cNvPicPr>
            <a:picLocks noChangeAspect="1"/>
          </p:cNvPicPr>
          <p:nvPr/>
        </p:nvPicPr>
        <p:blipFill>
          <a:blip r:embed="rId4"/>
          <a:stretch>
            <a:fillRect/>
          </a:stretch>
        </p:blipFill>
        <p:spPr>
          <a:xfrm>
            <a:off x="7028694" y="1533471"/>
            <a:ext cx="1949550" cy="2076557"/>
          </a:xfrm>
          <a:prstGeom prst="rect">
            <a:avLst/>
          </a:prstGeom>
        </p:spPr>
      </p:pic>
    </p:spTree>
    <p:extLst>
      <p:ext uri="{BB962C8B-B14F-4D97-AF65-F5344CB8AC3E}">
        <p14:creationId xmlns:p14="http://schemas.microsoft.com/office/powerpoint/2010/main" val="99396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B585-F78F-5DA7-08AA-059A30FE3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B47C9-CE9C-B202-4D77-BA0111DCD803}"/>
              </a:ext>
            </a:extLst>
          </p:cNvPr>
          <p:cNvSpPr>
            <a:spLocks noGrp="1"/>
          </p:cNvSpPr>
          <p:nvPr>
            <p:ph type="title"/>
          </p:nvPr>
        </p:nvSpPr>
        <p:spPr>
          <a:xfrm>
            <a:off x="197400" y="434569"/>
            <a:ext cx="5484300" cy="572700"/>
          </a:xfrm>
        </p:spPr>
        <p:txBody>
          <a:bodyPr>
            <a:normAutofit fontScale="90000"/>
          </a:bodyPr>
          <a:lstStyle/>
          <a:p>
            <a:r>
              <a:rPr lang="en-US" dirty="0"/>
              <a:t>DATA TRANSFORMATION</a:t>
            </a:r>
          </a:p>
        </p:txBody>
      </p:sp>
      <p:sp>
        <p:nvSpPr>
          <p:cNvPr id="3" name="Text Placeholder 2">
            <a:extLst>
              <a:ext uri="{FF2B5EF4-FFF2-40B4-BE49-F238E27FC236}">
                <a16:creationId xmlns:a16="http://schemas.microsoft.com/office/drawing/2014/main" id="{25EBAB3A-70AD-3B2B-631A-F97187BA475C}"/>
              </a:ext>
            </a:extLst>
          </p:cNvPr>
          <p:cNvSpPr>
            <a:spLocks noGrp="1"/>
          </p:cNvSpPr>
          <p:nvPr>
            <p:ph type="body" idx="1"/>
          </p:nvPr>
        </p:nvSpPr>
        <p:spPr>
          <a:xfrm>
            <a:off x="143140" y="1119163"/>
            <a:ext cx="3003082" cy="3083769"/>
          </a:xfrm>
        </p:spPr>
        <p:txBody>
          <a:bodyPr>
            <a:normAutofit fontScale="47500" lnSpcReduction="20000"/>
          </a:bodyPr>
          <a:lstStyle/>
          <a:p>
            <a:pPr marL="139700" indent="0" algn="just">
              <a:buNone/>
            </a:pPr>
            <a:r>
              <a:rPr lang="en-US" sz="2200" dirty="0">
                <a:latin typeface="Times New Roman" panose="02020603050405020304" pitchFamily="18" charset="0"/>
                <a:cs typeface="Times New Roman" panose="02020603050405020304" pitchFamily="18" charset="0"/>
              </a:rPr>
              <a:t>Before visualizing the data in the dashboard, several new features were created to provide a more comprehensive overview of student performance. The </a:t>
            </a:r>
            <a:r>
              <a:rPr lang="en-US" sz="2200" dirty="0" err="1">
                <a:latin typeface="Times New Roman" panose="02020603050405020304" pitchFamily="18" charset="0"/>
                <a:cs typeface="Times New Roman" panose="02020603050405020304" pitchFamily="18" charset="0"/>
              </a:rPr>
              <a:t>Average_Score</a:t>
            </a:r>
            <a:r>
              <a:rPr lang="en-US" sz="2200" dirty="0">
                <a:latin typeface="Times New Roman" panose="02020603050405020304" pitchFamily="18" charset="0"/>
                <a:cs typeface="Times New Roman" panose="02020603050405020304" pitchFamily="18" charset="0"/>
              </a:rPr>
              <a:t> column was generated to represent each student’s overall academic achievement by calculating the average of their </a:t>
            </a:r>
            <a:r>
              <a:rPr lang="en-US" sz="2200" dirty="0" err="1">
                <a:latin typeface="Times New Roman" panose="02020603050405020304" pitchFamily="18" charset="0"/>
                <a:cs typeface="Times New Roman" panose="02020603050405020304" pitchFamily="18" charset="0"/>
              </a:rPr>
              <a:t>Previous_Grade</a:t>
            </a: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Final_Grade</a:t>
            </a:r>
            <a:r>
              <a:rPr lang="en-US" sz="2200" dirty="0">
                <a:latin typeface="Times New Roman" panose="02020603050405020304" pitchFamily="18" charset="0"/>
                <a:cs typeface="Times New Roman" panose="02020603050405020304" pitchFamily="18" charset="0"/>
              </a:rPr>
              <a:t>. Then, the </a:t>
            </a:r>
            <a:r>
              <a:rPr lang="en-US" sz="2200" dirty="0" err="1">
                <a:latin typeface="Times New Roman" panose="02020603050405020304" pitchFamily="18" charset="0"/>
                <a:cs typeface="Times New Roman" panose="02020603050405020304" pitchFamily="18" charset="0"/>
              </a:rPr>
              <a:t>Performance_Level</a:t>
            </a:r>
            <a:r>
              <a:rPr lang="en-US" sz="2200" dirty="0">
                <a:latin typeface="Times New Roman" panose="02020603050405020304" pitchFamily="18" charset="0"/>
                <a:cs typeface="Times New Roman" panose="02020603050405020304" pitchFamily="18" charset="0"/>
              </a:rPr>
              <a:t> column was introduced to classify students into three categories High, Medium, and Low based on their average scores. This transformation helps simplify the analysis of student achievement levels and supports more insightful visual representations in the dashboard.</a:t>
            </a:r>
          </a:p>
          <a:p>
            <a:pPr marL="139700" indent="0" algn="just">
              <a:buNone/>
            </a:pPr>
            <a:endParaRPr lang="en-US" sz="2200" dirty="0">
              <a:latin typeface="Times New Roman" panose="02020603050405020304" pitchFamily="18" charset="0"/>
              <a:cs typeface="Times New Roman" panose="02020603050405020304" pitchFamily="18" charset="0"/>
            </a:endParaRPr>
          </a:p>
          <a:p>
            <a:pPr marL="139700" indent="0" algn="just">
              <a:buNone/>
            </a:pPr>
            <a:r>
              <a:rPr lang="en-US" sz="2200" dirty="0">
                <a:latin typeface="Times New Roman" panose="02020603050405020304" pitchFamily="18" charset="0"/>
                <a:cs typeface="Times New Roman" panose="02020603050405020304" pitchFamily="18" charset="0"/>
              </a:rPr>
              <a:t>In addition, the data types of several categorical variables Gender, </a:t>
            </a:r>
            <a:r>
              <a:rPr lang="en-US" sz="2200" dirty="0" err="1">
                <a:latin typeface="Times New Roman" panose="02020603050405020304" pitchFamily="18" charset="0"/>
                <a:cs typeface="Times New Roman" panose="02020603050405020304" pitchFamily="18" charset="0"/>
              </a:rPr>
              <a:t>Parental_Support</a:t>
            </a:r>
            <a:r>
              <a:rPr lang="en-US" sz="2200" dirty="0">
                <a:latin typeface="Times New Roman" panose="02020603050405020304" pitchFamily="18" charset="0"/>
                <a:cs typeface="Times New Roman" panose="02020603050405020304" pitchFamily="18" charset="0"/>
              </a:rPr>
              <a:t>, and </a:t>
            </a:r>
            <a:r>
              <a:rPr lang="en-US" sz="2200" dirty="0" err="1">
                <a:latin typeface="Times New Roman" panose="02020603050405020304" pitchFamily="18" charset="0"/>
                <a:cs typeface="Times New Roman" panose="02020603050405020304" pitchFamily="18" charset="0"/>
              </a:rPr>
              <a:t>Online_Classes_Taken</a:t>
            </a:r>
            <a:r>
              <a:rPr lang="en-US" sz="2200" dirty="0">
                <a:latin typeface="Times New Roman" panose="02020603050405020304" pitchFamily="18" charset="0"/>
                <a:cs typeface="Times New Roman" panose="02020603050405020304" pitchFamily="18" charset="0"/>
              </a:rPr>
              <a:t> were converted into the object data type to ensure proper handling and interpretation during the analysis and visualization processes.</a:t>
            </a:r>
          </a:p>
          <a:p>
            <a:pPr marL="139700" indent="0">
              <a:buNone/>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FEC3921-4702-2043-D036-636182FCCEEF}"/>
              </a:ext>
            </a:extLst>
          </p:cNvPr>
          <p:cNvPicPr>
            <a:picLocks noChangeAspect="1"/>
          </p:cNvPicPr>
          <p:nvPr/>
        </p:nvPicPr>
        <p:blipFill>
          <a:blip r:embed="rId2"/>
          <a:stretch>
            <a:fillRect/>
          </a:stretch>
        </p:blipFill>
        <p:spPr>
          <a:xfrm>
            <a:off x="3314782" y="1119163"/>
            <a:ext cx="2771848" cy="2702744"/>
          </a:xfrm>
          <a:prstGeom prst="rect">
            <a:avLst/>
          </a:prstGeom>
        </p:spPr>
      </p:pic>
      <p:pic>
        <p:nvPicPr>
          <p:cNvPr id="14" name="Picture 13">
            <a:extLst>
              <a:ext uri="{FF2B5EF4-FFF2-40B4-BE49-F238E27FC236}">
                <a16:creationId xmlns:a16="http://schemas.microsoft.com/office/drawing/2014/main" id="{69E99E33-7904-A416-3B29-B667F8D2F0CB}"/>
              </a:ext>
            </a:extLst>
          </p:cNvPr>
          <p:cNvPicPr>
            <a:picLocks noChangeAspect="1"/>
          </p:cNvPicPr>
          <p:nvPr/>
        </p:nvPicPr>
        <p:blipFill>
          <a:blip r:embed="rId3"/>
          <a:stretch>
            <a:fillRect/>
          </a:stretch>
        </p:blipFill>
        <p:spPr>
          <a:xfrm>
            <a:off x="6207845" y="1554436"/>
            <a:ext cx="2793015" cy="1679351"/>
          </a:xfrm>
          <a:prstGeom prst="rect">
            <a:avLst/>
          </a:prstGeom>
        </p:spPr>
      </p:pic>
    </p:spTree>
    <p:extLst>
      <p:ext uri="{BB962C8B-B14F-4D97-AF65-F5344CB8AC3E}">
        <p14:creationId xmlns:p14="http://schemas.microsoft.com/office/powerpoint/2010/main" val="3774768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194F1-CE51-284B-8BC0-5CE4A244C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882FE-3D35-06D2-D722-3EDE0674BE6C}"/>
              </a:ext>
            </a:extLst>
          </p:cNvPr>
          <p:cNvSpPr>
            <a:spLocks noGrp="1"/>
          </p:cNvSpPr>
          <p:nvPr>
            <p:ph type="title"/>
          </p:nvPr>
        </p:nvSpPr>
        <p:spPr>
          <a:xfrm>
            <a:off x="197400" y="489752"/>
            <a:ext cx="7582144" cy="572700"/>
          </a:xfrm>
        </p:spPr>
        <p:txBody>
          <a:bodyPr>
            <a:normAutofit/>
          </a:bodyPr>
          <a:lstStyle/>
          <a:p>
            <a:r>
              <a:rPr lang="en-US" sz="2000" dirty="0"/>
              <a:t>MACHINE LEARNING (SIMPLE REGRESSION MODEL)</a:t>
            </a:r>
          </a:p>
        </p:txBody>
      </p:sp>
      <p:sp>
        <p:nvSpPr>
          <p:cNvPr id="3" name="Text Placeholder 2">
            <a:extLst>
              <a:ext uri="{FF2B5EF4-FFF2-40B4-BE49-F238E27FC236}">
                <a16:creationId xmlns:a16="http://schemas.microsoft.com/office/drawing/2014/main" id="{6AB08713-E361-2D84-EB05-C389D9BD3B4B}"/>
              </a:ext>
            </a:extLst>
          </p:cNvPr>
          <p:cNvSpPr>
            <a:spLocks noGrp="1"/>
          </p:cNvSpPr>
          <p:nvPr>
            <p:ph type="body" idx="1"/>
          </p:nvPr>
        </p:nvSpPr>
        <p:spPr>
          <a:xfrm>
            <a:off x="123703" y="1062452"/>
            <a:ext cx="2857904" cy="3591296"/>
          </a:xfrm>
        </p:spPr>
        <p:txBody>
          <a:bodyPr>
            <a:normAutofit fontScale="55000" lnSpcReduction="20000"/>
          </a:bodyPr>
          <a:lstStyle/>
          <a:p>
            <a:pPr marL="139700" indent="0" algn="just">
              <a:buNone/>
            </a:pPr>
            <a:r>
              <a:rPr lang="en-US" sz="2000" dirty="0">
                <a:latin typeface="Times New Roman" panose="02020603050405020304" pitchFamily="18" charset="0"/>
                <a:cs typeface="Times New Roman" panose="02020603050405020304" pitchFamily="18" charset="0"/>
              </a:rPr>
              <a:t>The analysis results show that the regression model has fairly good accuracy. Most predicted values are close to the actual ones, as seen in the bar chart where the differences between them are minimal. Although there are slight deviations for some students, these differences are still reasonable, indicating that the model can estimate final grades quite accurately.</a:t>
            </a:r>
          </a:p>
          <a:p>
            <a:pPr marL="139700" indent="0" algn="just">
              <a:buNone/>
            </a:pPr>
            <a:endParaRPr lang="en-US" sz="2000" dirty="0">
              <a:latin typeface="Times New Roman" panose="02020603050405020304" pitchFamily="18" charset="0"/>
              <a:cs typeface="Times New Roman" panose="02020603050405020304" pitchFamily="18" charset="0"/>
            </a:endParaRPr>
          </a:p>
          <a:p>
            <a:pPr marL="139700" indent="0" algn="just">
              <a:buNone/>
            </a:pPr>
            <a:r>
              <a:rPr lang="en-US" sz="2000" dirty="0">
                <a:latin typeface="Times New Roman" panose="02020603050405020304" pitchFamily="18" charset="0"/>
                <a:cs typeface="Times New Roman" panose="02020603050405020304" pitchFamily="18" charset="0"/>
              </a:rPr>
              <a:t>In addition, the scatter plot comparing actual and predicted values shows that most points lie close to the diagonal line, which represents perfect predictions. This indicates that the model successfully captures the data pattern and produces consistent results. Overall, the linear regression model is reliable enough to be used for visualizing the comparison between actual and predicted grades in the dashboard.</a:t>
            </a:r>
          </a:p>
          <a:p>
            <a:endParaRPr lang="en-US" dirty="0"/>
          </a:p>
        </p:txBody>
      </p:sp>
      <p:pic>
        <p:nvPicPr>
          <p:cNvPr id="8" name="Picture 7">
            <a:extLst>
              <a:ext uri="{FF2B5EF4-FFF2-40B4-BE49-F238E27FC236}">
                <a16:creationId xmlns:a16="http://schemas.microsoft.com/office/drawing/2014/main" id="{D39383B6-1650-6DC4-A2F0-69FE70E13C90}"/>
              </a:ext>
            </a:extLst>
          </p:cNvPr>
          <p:cNvPicPr>
            <a:picLocks noChangeAspect="1"/>
          </p:cNvPicPr>
          <p:nvPr/>
        </p:nvPicPr>
        <p:blipFill>
          <a:blip r:embed="rId2"/>
          <a:srcRect l="5081"/>
          <a:stretch>
            <a:fillRect/>
          </a:stretch>
        </p:blipFill>
        <p:spPr>
          <a:xfrm>
            <a:off x="3086099" y="2536003"/>
            <a:ext cx="2667244" cy="2023753"/>
          </a:xfrm>
          <a:prstGeom prst="rect">
            <a:avLst/>
          </a:prstGeom>
        </p:spPr>
      </p:pic>
      <p:pic>
        <p:nvPicPr>
          <p:cNvPr id="10" name="Picture 9">
            <a:extLst>
              <a:ext uri="{FF2B5EF4-FFF2-40B4-BE49-F238E27FC236}">
                <a16:creationId xmlns:a16="http://schemas.microsoft.com/office/drawing/2014/main" id="{4981D6F7-7EDF-7DFE-F3CF-0EB3F23DD3B9}"/>
              </a:ext>
            </a:extLst>
          </p:cNvPr>
          <p:cNvPicPr>
            <a:picLocks noChangeAspect="1"/>
          </p:cNvPicPr>
          <p:nvPr/>
        </p:nvPicPr>
        <p:blipFill>
          <a:blip r:embed="rId3"/>
          <a:srcRect r="4137"/>
          <a:stretch>
            <a:fillRect/>
          </a:stretch>
        </p:blipFill>
        <p:spPr>
          <a:xfrm>
            <a:off x="5857836" y="1423937"/>
            <a:ext cx="3143398" cy="1958775"/>
          </a:xfrm>
          <a:prstGeom prst="rect">
            <a:avLst/>
          </a:prstGeom>
        </p:spPr>
      </p:pic>
      <p:pic>
        <p:nvPicPr>
          <p:cNvPr id="5" name="Picture 4">
            <a:extLst>
              <a:ext uri="{FF2B5EF4-FFF2-40B4-BE49-F238E27FC236}">
                <a16:creationId xmlns:a16="http://schemas.microsoft.com/office/drawing/2014/main" id="{02525EE9-7CF5-0A7A-81E8-17DB4A8F5748}"/>
              </a:ext>
            </a:extLst>
          </p:cNvPr>
          <p:cNvPicPr>
            <a:picLocks noChangeAspect="1"/>
          </p:cNvPicPr>
          <p:nvPr/>
        </p:nvPicPr>
        <p:blipFill>
          <a:blip r:embed="rId4"/>
          <a:stretch>
            <a:fillRect/>
          </a:stretch>
        </p:blipFill>
        <p:spPr>
          <a:xfrm>
            <a:off x="3286165" y="1082246"/>
            <a:ext cx="2194332" cy="1321078"/>
          </a:xfrm>
          <a:prstGeom prst="rect">
            <a:avLst/>
          </a:prstGeom>
        </p:spPr>
      </p:pic>
    </p:spTree>
    <p:extLst>
      <p:ext uri="{BB962C8B-B14F-4D97-AF65-F5344CB8AC3E}">
        <p14:creationId xmlns:p14="http://schemas.microsoft.com/office/powerpoint/2010/main" val="1234094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686EE-45C2-2D70-0936-61BE4D7EF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AB795-E654-D64A-4137-F7FF35A22E7D}"/>
              </a:ext>
            </a:extLst>
          </p:cNvPr>
          <p:cNvSpPr>
            <a:spLocks noGrp="1"/>
          </p:cNvSpPr>
          <p:nvPr>
            <p:ph type="title"/>
          </p:nvPr>
        </p:nvSpPr>
        <p:spPr>
          <a:xfrm>
            <a:off x="2080125" y="2023144"/>
            <a:ext cx="5170781" cy="841800"/>
          </a:xfrm>
        </p:spPr>
        <p:txBody>
          <a:bodyPr>
            <a:noAutofit/>
          </a:bodyPr>
          <a:lstStyle/>
          <a:p>
            <a:r>
              <a:rPr lang="en-US" dirty="0"/>
              <a:t>DATA VISUALIZATION AND ANALYSIS</a:t>
            </a:r>
          </a:p>
        </p:txBody>
      </p:sp>
    </p:spTree>
    <p:extLst>
      <p:ext uri="{BB962C8B-B14F-4D97-AF65-F5344CB8AC3E}">
        <p14:creationId xmlns:p14="http://schemas.microsoft.com/office/powerpoint/2010/main" val="2614048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D65E7-3CCB-A7F9-F764-22DF11B3D316}"/>
              </a:ext>
            </a:extLst>
          </p:cNvPr>
          <p:cNvPicPr>
            <a:picLocks noChangeAspect="1"/>
          </p:cNvPicPr>
          <p:nvPr/>
        </p:nvPicPr>
        <p:blipFill>
          <a:blip r:embed="rId2"/>
          <a:stretch>
            <a:fillRect/>
          </a:stretch>
        </p:blipFill>
        <p:spPr>
          <a:xfrm>
            <a:off x="3852499" y="1730354"/>
            <a:ext cx="4775006" cy="1048565"/>
          </a:xfrm>
          <a:prstGeom prst="rect">
            <a:avLst/>
          </a:prstGeom>
        </p:spPr>
      </p:pic>
      <p:sp>
        <p:nvSpPr>
          <p:cNvPr id="11" name="TextBox 10">
            <a:extLst>
              <a:ext uri="{FF2B5EF4-FFF2-40B4-BE49-F238E27FC236}">
                <a16:creationId xmlns:a16="http://schemas.microsoft.com/office/drawing/2014/main" id="{CE628391-259F-2063-5E99-E72D56D1AF4A}"/>
              </a:ext>
            </a:extLst>
          </p:cNvPr>
          <p:cNvSpPr txBox="1"/>
          <p:nvPr/>
        </p:nvSpPr>
        <p:spPr>
          <a:xfrm>
            <a:off x="-50006" y="793760"/>
            <a:ext cx="3271838" cy="3970318"/>
          </a:xfrm>
          <a:prstGeom prst="rect">
            <a:avLst/>
          </a:prstGeom>
          <a:noFill/>
        </p:spPr>
        <p:txBody>
          <a:bodyPr wrap="square">
            <a:spAutoFit/>
          </a:bodyPr>
          <a:lstStyle/>
          <a:p>
            <a:pPr marL="179388" indent="0" algn="just"/>
            <a:r>
              <a:rPr lang="en-US" dirty="0">
                <a:solidFill>
                  <a:schemeClr val="bg1"/>
                </a:solidFill>
                <a:latin typeface="Times New Roman" panose="02020603050405020304" pitchFamily="18" charset="0"/>
                <a:cs typeface="Times New Roman" panose="02020603050405020304" pitchFamily="18" charset="0"/>
              </a:rPr>
              <a:t>The three main indicators on the dashboard provide an overview of students’ overall performance. The average Final Grade of </a:t>
            </a:r>
            <a:r>
              <a:rPr lang="en-US" b="1" dirty="0">
                <a:solidFill>
                  <a:schemeClr val="bg1"/>
                </a:solidFill>
                <a:latin typeface="Times New Roman" panose="02020603050405020304" pitchFamily="18" charset="0"/>
                <a:cs typeface="Times New Roman" panose="02020603050405020304" pitchFamily="18" charset="0"/>
              </a:rPr>
              <a:t>80.02</a:t>
            </a:r>
            <a:r>
              <a:rPr lang="en-US" dirty="0">
                <a:solidFill>
                  <a:schemeClr val="bg1"/>
                </a:solidFill>
                <a:latin typeface="Times New Roman" panose="02020603050405020304" pitchFamily="18" charset="0"/>
                <a:cs typeface="Times New Roman" panose="02020603050405020304" pitchFamily="18" charset="0"/>
              </a:rPr>
              <a:t> indicates that, in general, students demonstrate good academic achievement. The total of </a:t>
            </a:r>
            <a:r>
              <a:rPr lang="en-US" b="1" dirty="0">
                <a:solidFill>
                  <a:schemeClr val="bg1"/>
                </a:solidFill>
                <a:latin typeface="Times New Roman" panose="02020603050405020304" pitchFamily="18" charset="0"/>
                <a:cs typeface="Times New Roman" panose="02020603050405020304" pitchFamily="18" charset="0"/>
              </a:rPr>
              <a:t>999 </a:t>
            </a:r>
            <a:r>
              <a:rPr lang="en-US" dirty="0">
                <a:solidFill>
                  <a:schemeClr val="bg1"/>
                </a:solidFill>
                <a:latin typeface="Times New Roman" panose="02020603050405020304" pitchFamily="18" charset="0"/>
                <a:cs typeface="Times New Roman" panose="02020603050405020304" pitchFamily="18" charset="0"/>
              </a:rPr>
              <a:t>students recorded in the dataset shows that the analysis was conducted on a sufficiently large and representative population.</a:t>
            </a:r>
          </a:p>
          <a:p>
            <a:pPr marL="179388" indent="0" algn="just"/>
            <a:endParaRPr lang="en-US" dirty="0">
              <a:solidFill>
                <a:schemeClr val="bg1"/>
              </a:solidFill>
              <a:latin typeface="Times New Roman" panose="02020603050405020304" pitchFamily="18" charset="0"/>
              <a:cs typeface="Times New Roman" panose="02020603050405020304" pitchFamily="18" charset="0"/>
            </a:endParaRPr>
          </a:p>
          <a:p>
            <a:pPr marL="179388" indent="0" algn="just"/>
            <a:r>
              <a:rPr lang="en-US" dirty="0">
                <a:solidFill>
                  <a:schemeClr val="bg1"/>
                </a:solidFill>
                <a:latin typeface="Times New Roman" panose="02020603050405020304" pitchFamily="18" charset="0"/>
                <a:cs typeface="Times New Roman" panose="02020603050405020304" pitchFamily="18" charset="0"/>
              </a:rPr>
              <a:t>Meanwhile, the average Attendance Rate of </a:t>
            </a:r>
            <a:r>
              <a:rPr lang="en-US" b="1" dirty="0">
                <a:solidFill>
                  <a:schemeClr val="bg1"/>
                </a:solidFill>
                <a:latin typeface="Times New Roman" panose="02020603050405020304" pitchFamily="18" charset="0"/>
                <a:cs typeface="Times New Roman" panose="02020603050405020304" pitchFamily="18" charset="0"/>
              </a:rPr>
              <a:t>85.520</a:t>
            </a:r>
            <a:r>
              <a:rPr lang="en-US" dirty="0">
                <a:solidFill>
                  <a:schemeClr val="bg1"/>
                </a:solidFill>
                <a:latin typeface="Times New Roman" panose="02020603050405020304" pitchFamily="18" charset="0"/>
                <a:cs typeface="Times New Roman" panose="02020603050405020304" pitchFamily="18" charset="0"/>
              </a:rPr>
              <a:t> indicates that most students display strong discipline and consistency in attending learning activities. Overall, these three metrics illustrate that students maintain a stable level of academic performance.</a:t>
            </a:r>
          </a:p>
        </p:txBody>
      </p:sp>
    </p:spTree>
    <p:extLst>
      <p:ext uri="{BB962C8B-B14F-4D97-AF65-F5344CB8AC3E}">
        <p14:creationId xmlns:p14="http://schemas.microsoft.com/office/powerpoint/2010/main" val="2007660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306A8-A3C8-DE18-DD43-A3725D80906C}"/>
              </a:ext>
            </a:extLst>
          </p:cNvPr>
          <p:cNvSpPr>
            <a:spLocks noGrp="1"/>
          </p:cNvSpPr>
          <p:nvPr>
            <p:ph type="title"/>
          </p:nvPr>
        </p:nvSpPr>
        <p:spPr>
          <a:xfrm>
            <a:off x="108337" y="403619"/>
            <a:ext cx="3756431" cy="889400"/>
          </a:xfrm>
        </p:spPr>
        <p:txBody>
          <a:bodyPr>
            <a:noAutofit/>
          </a:bodyPr>
          <a:lstStyle/>
          <a:p>
            <a:r>
              <a:rPr lang="en-US" sz="1800" dirty="0"/>
              <a:t>Student Demographics</a:t>
            </a:r>
          </a:p>
        </p:txBody>
      </p:sp>
      <p:sp>
        <p:nvSpPr>
          <p:cNvPr id="3" name="Subtitle 2">
            <a:extLst>
              <a:ext uri="{FF2B5EF4-FFF2-40B4-BE49-F238E27FC236}">
                <a16:creationId xmlns:a16="http://schemas.microsoft.com/office/drawing/2014/main" id="{E0BBCDDF-6F60-F546-5517-084885842924}"/>
              </a:ext>
            </a:extLst>
          </p:cNvPr>
          <p:cNvSpPr>
            <a:spLocks noGrp="1"/>
          </p:cNvSpPr>
          <p:nvPr>
            <p:ph type="subTitle" idx="1"/>
          </p:nvPr>
        </p:nvSpPr>
        <p:spPr>
          <a:xfrm>
            <a:off x="-75783" y="1064418"/>
            <a:ext cx="3304758" cy="3850482"/>
          </a:xfrm>
        </p:spPr>
        <p:txBody>
          <a:bodyPr>
            <a:normAutofit fontScale="40000" lnSpcReduction="20000"/>
          </a:bodyPr>
          <a:lstStyle/>
          <a:p>
            <a:pPr marL="179388" indent="0" algn="just"/>
            <a:r>
              <a:rPr lang="en-US" sz="2800" dirty="0">
                <a:solidFill>
                  <a:schemeClr val="bg1"/>
                </a:solidFill>
                <a:latin typeface="Times New Roman" panose="02020603050405020304" pitchFamily="18" charset="0"/>
                <a:cs typeface="Times New Roman" panose="02020603050405020304" pitchFamily="18" charset="0"/>
              </a:rPr>
              <a:t>Based on the Student Demographics dashboard, the students’ performance levels indicate that most students have a high academic performance of </a:t>
            </a:r>
            <a:r>
              <a:rPr lang="en-US" sz="2800" b="1" dirty="0">
                <a:solidFill>
                  <a:schemeClr val="bg1"/>
                </a:solidFill>
                <a:latin typeface="Times New Roman" panose="02020603050405020304" pitchFamily="18" charset="0"/>
                <a:cs typeface="Times New Roman" panose="02020603050405020304" pitchFamily="18" charset="0"/>
              </a:rPr>
              <a:t>46.8%</a:t>
            </a:r>
            <a:r>
              <a:rPr lang="en-US" sz="2800" dirty="0">
                <a:solidFill>
                  <a:schemeClr val="bg1"/>
                </a:solidFill>
                <a:latin typeface="Times New Roman" panose="02020603050405020304" pitchFamily="18" charset="0"/>
                <a:cs typeface="Times New Roman" panose="02020603050405020304" pitchFamily="18" charset="0"/>
              </a:rPr>
              <a:t>, followed by </a:t>
            </a:r>
            <a:r>
              <a:rPr lang="en-US" sz="2800" b="1" dirty="0">
                <a:solidFill>
                  <a:schemeClr val="bg1"/>
                </a:solidFill>
                <a:latin typeface="Times New Roman" panose="02020603050405020304" pitchFamily="18" charset="0"/>
                <a:cs typeface="Times New Roman" panose="02020603050405020304" pitchFamily="18" charset="0"/>
              </a:rPr>
              <a:t>27.1%</a:t>
            </a:r>
            <a:r>
              <a:rPr lang="en-US" sz="2800" dirty="0">
                <a:solidFill>
                  <a:schemeClr val="bg1"/>
                </a:solidFill>
                <a:latin typeface="Times New Roman" panose="02020603050405020304" pitchFamily="18" charset="0"/>
                <a:cs typeface="Times New Roman" panose="02020603050405020304" pitchFamily="18" charset="0"/>
              </a:rPr>
              <a:t> in the low category and </a:t>
            </a:r>
            <a:r>
              <a:rPr lang="en-US" sz="2800" b="1" dirty="0">
                <a:solidFill>
                  <a:schemeClr val="bg1"/>
                </a:solidFill>
                <a:latin typeface="Times New Roman" panose="02020603050405020304" pitchFamily="18" charset="0"/>
                <a:cs typeface="Times New Roman" panose="02020603050405020304" pitchFamily="18" charset="0"/>
              </a:rPr>
              <a:t>26% </a:t>
            </a:r>
            <a:r>
              <a:rPr lang="en-US" sz="2800" dirty="0">
                <a:solidFill>
                  <a:schemeClr val="bg1"/>
                </a:solidFill>
                <a:latin typeface="Times New Roman" panose="02020603050405020304" pitchFamily="18" charset="0"/>
                <a:cs typeface="Times New Roman" panose="02020603050405020304" pitchFamily="18" charset="0"/>
              </a:rPr>
              <a:t>in the medium category. This shows that nearly half of the student population achieves excellent academic results, while the rest still need improvement, especially those in the low-performance group.</a:t>
            </a:r>
          </a:p>
          <a:p>
            <a:pPr marL="179388" indent="0" algn="just"/>
            <a:endParaRPr lang="en-US" sz="2800" dirty="0">
              <a:solidFill>
                <a:schemeClr val="bg1"/>
              </a:solidFill>
              <a:latin typeface="Times New Roman" panose="02020603050405020304" pitchFamily="18" charset="0"/>
              <a:cs typeface="Times New Roman" panose="02020603050405020304" pitchFamily="18" charset="0"/>
            </a:endParaRPr>
          </a:p>
          <a:p>
            <a:pPr marL="179388" indent="0" algn="just"/>
            <a:r>
              <a:rPr lang="en-US" sz="2800" dirty="0">
                <a:solidFill>
                  <a:schemeClr val="bg1"/>
                </a:solidFill>
                <a:latin typeface="Times New Roman" panose="02020603050405020304" pitchFamily="18" charset="0"/>
                <a:cs typeface="Times New Roman" panose="02020603050405020304" pitchFamily="18" charset="0"/>
              </a:rPr>
              <a:t>In terms of online class participation, </a:t>
            </a:r>
            <a:r>
              <a:rPr lang="en-US" sz="2800" b="1" dirty="0">
                <a:solidFill>
                  <a:schemeClr val="bg1"/>
                </a:solidFill>
                <a:latin typeface="Times New Roman" panose="02020603050405020304" pitchFamily="18" charset="0"/>
                <a:cs typeface="Times New Roman" panose="02020603050405020304" pitchFamily="18" charset="0"/>
              </a:rPr>
              <a:t>52.1%</a:t>
            </a:r>
            <a:r>
              <a:rPr lang="en-US" sz="2800" dirty="0">
                <a:solidFill>
                  <a:schemeClr val="bg1"/>
                </a:solidFill>
                <a:latin typeface="Times New Roman" panose="02020603050405020304" pitchFamily="18" charset="0"/>
                <a:cs typeface="Times New Roman" panose="02020603050405020304" pitchFamily="18" charset="0"/>
              </a:rPr>
              <a:t> of students attended online classes, while </a:t>
            </a:r>
            <a:r>
              <a:rPr lang="en-US" sz="2800" b="1" dirty="0">
                <a:solidFill>
                  <a:schemeClr val="bg1"/>
                </a:solidFill>
                <a:latin typeface="Times New Roman" panose="02020603050405020304" pitchFamily="18" charset="0"/>
                <a:cs typeface="Times New Roman" panose="02020603050405020304" pitchFamily="18" charset="0"/>
              </a:rPr>
              <a:t>47.9%</a:t>
            </a:r>
            <a:r>
              <a:rPr lang="en-US" sz="2800" dirty="0">
                <a:solidFill>
                  <a:schemeClr val="bg1"/>
                </a:solidFill>
                <a:latin typeface="Times New Roman" panose="02020603050405020304" pitchFamily="18" charset="0"/>
                <a:cs typeface="Times New Roman" panose="02020603050405020304" pitchFamily="18" charset="0"/>
              </a:rPr>
              <a:t> did not. This nearly balanced percentage indicates that learning activities are not limited to online classes but also include a significant portion of face-to-face learning. This may suggest that students have flexibility in the learning methods they use.</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marL="179388" indent="0" algn="just"/>
            <a:r>
              <a:rPr lang="en-US" sz="2800" dirty="0">
                <a:solidFill>
                  <a:schemeClr val="bg1"/>
                </a:solidFill>
                <a:latin typeface="Times New Roman" panose="02020603050405020304" pitchFamily="18" charset="0"/>
                <a:cs typeface="Times New Roman" panose="02020603050405020304" pitchFamily="18" charset="0"/>
              </a:rPr>
              <a:t>Meanwhile, the gender distribution of students shows a relatively balanced proportion between female (</a:t>
            </a:r>
            <a:r>
              <a:rPr lang="en-US" sz="2800" b="1" dirty="0">
                <a:solidFill>
                  <a:schemeClr val="bg1"/>
                </a:solidFill>
                <a:latin typeface="Times New Roman" panose="02020603050405020304" pitchFamily="18" charset="0"/>
                <a:cs typeface="Times New Roman" panose="02020603050405020304" pitchFamily="18" charset="0"/>
              </a:rPr>
              <a:t>52.7%</a:t>
            </a:r>
            <a:r>
              <a:rPr lang="en-US" sz="2800" dirty="0">
                <a:solidFill>
                  <a:schemeClr val="bg1"/>
                </a:solidFill>
                <a:latin typeface="Times New Roman" panose="02020603050405020304" pitchFamily="18" charset="0"/>
                <a:cs typeface="Times New Roman" panose="02020603050405020304" pitchFamily="18" charset="0"/>
              </a:rPr>
              <a:t>) and male (</a:t>
            </a:r>
            <a:r>
              <a:rPr lang="en-US" sz="2800" b="1" dirty="0">
                <a:solidFill>
                  <a:schemeClr val="bg1"/>
                </a:solidFill>
                <a:latin typeface="Times New Roman" panose="02020603050405020304" pitchFamily="18" charset="0"/>
                <a:cs typeface="Times New Roman" panose="02020603050405020304" pitchFamily="18" charset="0"/>
              </a:rPr>
              <a:t>47.3%</a:t>
            </a:r>
            <a:r>
              <a:rPr lang="en-US" sz="2800" dirty="0">
                <a:solidFill>
                  <a:schemeClr val="bg1"/>
                </a:solidFill>
                <a:latin typeface="Times New Roman" panose="02020603050405020304" pitchFamily="18" charset="0"/>
                <a:cs typeface="Times New Roman" panose="02020603050405020304" pitchFamily="18" charset="0"/>
              </a:rPr>
              <a:t>) students. This balance reflects equal gender representation in the academic environment. With this parity, there is no significant dominance of any gender group in terms of participation or academic achievement.</a:t>
            </a:r>
          </a:p>
          <a:p>
            <a:endParaRPr lang="en-US" dirty="0"/>
          </a:p>
        </p:txBody>
      </p:sp>
      <p:pic>
        <p:nvPicPr>
          <p:cNvPr id="6" name="Picture 5">
            <a:extLst>
              <a:ext uri="{FF2B5EF4-FFF2-40B4-BE49-F238E27FC236}">
                <a16:creationId xmlns:a16="http://schemas.microsoft.com/office/drawing/2014/main" id="{1E1FF3FF-F964-403A-79F2-C59D9797E22B}"/>
              </a:ext>
            </a:extLst>
          </p:cNvPr>
          <p:cNvPicPr>
            <a:picLocks noChangeAspect="1"/>
          </p:cNvPicPr>
          <p:nvPr/>
        </p:nvPicPr>
        <p:blipFill>
          <a:blip r:embed="rId2"/>
          <a:stretch>
            <a:fillRect/>
          </a:stretch>
        </p:blipFill>
        <p:spPr>
          <a:xfrm>
            <a:off x="3549852" y="214259"/>
            <a:ext cx="2540131" cy="2038455"/>
          </a:xfrm>
          <a:prstGeom prst="rect">
            <a:avLst/>
          </a:prstGeom>
        </p:spPr>
      </p:pic>
      <p:pic>
        <p:nvPicPr>
          <p:cNvPr id="8" name="Picture 7">
            <a:extLst>
              <a:ext uri="{FF2B5EF4-FFF2-40B4-BE49-F238E27FC236}">
                <a16:creationId xmlns:a16="http://schemas.microsoft.com/office/drawing/2014/main" id="{7CD8B645-BD7A-F29F-70D1-2B92601DA4C2}"/>
              </a:ext>
            </a:extLst>
          </p:cNvPr>
          <p:cNvPicPr>
            <a:picLocks noChangeAspect="1"/>
          </p:cNvPicPr>
          <p:nvPr/>
        </p:nvPicPr>
        <p:blipFill>
          <a:blip r:embed="rId3"/>
          <a:stretch>
            <a:fillRect/>
          </a:stretch>
        </p:blipFill>
        <p:spPr>
          <a:xfrm>
            <a:off x="6299265" y="673893"/>
            <a:ext cx="2654436" cy="2000353"/>
          </a:xfrm>
          <a:prstGeom prst="rect">
            <a:avLst/>
          </a:prstGeom>
        </p:spPr>
      </p:pic>
      <p:pic>
        <p:nvPicPr>
          <p:cNvPr id="10" name="Picture 9">
            <a:extLst>
              <a:ext uri="{FF2B5EF4-FFF2-40B4-BE49-F238E27FC236}">
                <a16:creationId xmlns:a16="http://schemas.microsoft.com/office/drawing/2014/main" id="{8DDBB367-F452-2E5D-0569-175DB572F9A7}"/>
              </a:ext>
            </a:extLst>
          </p:cNvPr>
          <p:cNvPicPr>
            <a:picLocks noChangeAspect="1"/>
          </p:cNvPicPr>
          <p:nvPr/>
        </p:nvPicPr>
        <p:blipFill>
          <a:blip r:embed="rId4"/>
          <a:stretch>
            <a:fillRect/>
          </a:stretch>
        </p:blipFill>
        <p:spPr>
          <a:xfrm>
            <a:off x="4819917" y="2797917"/>
            <a:ext cx="2616334" cy="1962251"/>
          </a:xfrm>
          <a:prstGeom prst="rect">
            <a:avLst/>
          </a:prstGeom>
        </p:spPr>
      </p:pic>
    </p:spTree>
    <p:extLst>
      <p:ext uri="{BB962C8B-B14F-4D97-AF65-F5344CB8AC3E}">
        <p14:creationId xmlns:p14="http://schemas.microsoft.com/office/powerpoint/2010/main" val="2229967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3093F-931D-8227-563C-D9186C124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D37B8-DC48-D27D-9DAC-9C754D3BB8F1}"/>
              </a:ext>
            </a:extLst>
          </p:cNvPr>
          <p:cNvSpPr>
            <a:spLocks noGrp="1"/>
          </p:cNvSpPr>
          <p:nvPr>
            <p:ph type="title"/>
          </p:nvPr>
        </p:nvSpPr>
        <p:spPr>
          <a:xfrm>
            <a:off x="152189" y="308717"/>
            <a:ext cx="3217674" cy="574325"/>
          </a:xfrm>
        </p:spPr>
        <p:txBody>
          <a:bodyPr>
            <a:normAutofit/>
          </a:bodyPr>
          <a:lstStyle/>
          <a:p>
            <a:r>
              <a:rPr lang="en-US" sz="1800" dirty="0"/>
              <a:t>Academic Performance</a:t>
            </a:r>
          </a:p>
        </p:txBody>
      </p:sp>
      <p:pic>
        <p:nvPicPr>
          <p:cNvPr id="6" name="Picture 5">
            <a:extLst>
              <a:ext uri="{FF2B5EF4-FFF2-40B4-BE49-F238E27FC236}">
                <a16:creationId xmlns:a16="http://schemas.microsoft.com/office/drawing/2014/main" id="{DF5E89A1-0A96-7D39-BEA4-831946BE14A0}"/>
              </a:ext>
            </a:extLst>
          </p:cNvPr>
          <p:cNvPicPr>
            <a:picLocks noChangeAspect="1"/>
          </p:cNvPicPr>
          <p:nvPr/>
        </p:nvPicPr>
        <p:blipFill>
          <a:blip r:embed="rId2"/>
          <a:stretch>
            <a:fillRect/>
          </a:stretch>
        </p:blipFill>
        <p:spPr>
          <a:xfrm>
            <a:off x="3483174" y="308717"/>
            <a:ext cx="2635385" cy="1987652"/>
          </a:xfrm>
          <a:prstGeom prst="rect">
            <a:avLst/>
          </a:prstGeom>
        </p:spPr>
      </p:pic>
      <p:pic>
        <p:nvPicPr>
          <p:cNvPr id="8" name="Picture 7">
            <a:extLst>
              <a:ext uri="{FF2B5EF4-FFF2-40B4-BE49-F238E27FC236}">
                <a16:creationId xmlns:a16="http://schemas.microsoft.com/office/drawing/2014/main" id="{0238079F-23DE-EC21-24C0-36CA1B57BA7F}"/>
              </a:ext>
            </a:extLst>
          </p:cNvPr>
          <p:cNvPicPr>
            <a:picLocks noChangeAspect="1"/>
          </p:cNvPicPr>
          <p:nvPr/>
        </p:nvPicPr>
        <p:blipFill>
          <a:blip r:embed="rId3"/>
          <a:stretch>
            <a:fillRect/>
          </a:stretch>
        </p:blipFill>
        <p:spPr>
          <a:xfrm>
            <a:off x="6330883" y="684955"/>
            <a:ext cx="2654436" cy="1981302"/>
          </a:xfrm>
          <a:prstGeom prst="rect">
            <a:avLst/>
          </a:prstGeom>
        </p:spPr>
      </p:pic>
      <p:pic>
        <p:nvPicPr>
          <p:cNvPr id="10" name="Picture 9">
            <a:extLst>
              <a:ext uri="{FF2B5EF4-FFF2-40B4-BE49-F238E27FC236}">
                <a16:creationId xmlns:a16="http://schemas.microsoft.com/office/drawing/2014/main" id="{FF195751-469D-2FCD-735B-F06447F934BD}"/>
              </a:ext>
            </a:extLst>
          </p:cNvPr>
          <p:cNvPicPr>
            <a:picLocks noChangeAspect="1"/>
          </p:cNvPicPr>
          <p:nvPr/>
        </p:nvPicPr>
        <p:blipFill>
          <a:blip r:embed="rId4"/>
          <a:stretch>
            <a:fillRect/>
          </a:stretch>
        </p:blipFill>
        <p:spPr>
          <a:xfrm>
            <a:off x="4810392" y="2761406"/>
            <a:ext cx="2616334" cy="1949550"/>
          </a:xfrm>
          <a:prstGeom prst="rect">
            <a:avLst/>
          </a:prstGeom>
        </p:spPr>
      </p:pic>
      <p:sp>
        <p:nvSpPr>
          <p:cNvPr id="12" name="TextBox 11">
            <a:extLst>
              <a:ext uri="{FF2B5EF4-FFF2-40B4-BE49-F238E27FC236}">
                <a16:creationId xmlns:a16="http://schemas.microsoft.com/office/drawing/2014/main" id="{FE75ED8D-BC77-4E7A-29F8-F23424B7DCB0}"/>
              </a:ext>
            </a:extLst>
          </p:cNvPr>
          <p:cNvSpPr txBox="1"/>
          <p:nvPr/>
        </p:nvSpPr>
        <p:spPr>
          <a:xfrm>
            <a:off x="158681" y="775042"/>
            <a:ext cx="2998858" cy="4247317"/>
          </a:xfrm>
          <a:prstGeom prst="rect">
            <a:avLst/>
          </a:prstGeom>
          <a:noFill/>
        </p:spPr>
        <p:txBody>
          <a:bodyPr wrap="square">
            <a:spAutoFit/>
          </a:bodyPr>
          <a:lstStyle/>
          <a:p>
            <a:pPr algn="just">
              <a:buNone/>
            </a:pPr>
            <a:r>
              <a:rPr lang="en-US" sz="1000" dirty="0">
                <a:solidFill>
                  <a:schemeClr val="bg1"/>
                </a:solidFill>
                <a:latin typeface="Times New Roman" panose="02020603050405020304" pitchFamily="18" charset="0"/>
                <a:cs typeface="Times New Roman" panose="02020603050405020304" pitchFamily="18" charset="0"/>
              </a:rPr>
              <a:t>Based on the Academic Performance dashboard, the relationship between Study Hours per Week and Final Grade shows a positive trend, although the effect is not very strong. Students who study more hours per week tend to have slightly higher final grades, but the increase is not significant. This indicates that study duration is not the only determining factor, as the quality and learning methods also play a crucial role in academic achievement.</a:t>
            </a:r>
          </a:p>
          <a:p>
            <a:pPr algn="just">
              <a:buNone/>
            </a:pPr>
            <a:endParaRPr lang="en-US" sz="1000" dirty="0">
              <a:solidFill>
                <a:schemeClr val="bg1"/>
              </a:solidFill>
              <a:latin typeface="Times New Roman" panose="02020603050405020304" pitchFamily="18" charset="0"/>
              <a:cs typeface="Times New Roman" panose="02020603050405020304" pitchFamily="18" charset="0"/>
            </a:endParaRPr>
          </a:p>
          <a:p>
            <a:pPr algn="just">
              <a:buNone/>
            </a:pPr>
            <a:r>
              <a:rPr lang="en-US" sz="1000" dirty="0">
                <a:solidFill>
                  <a:schemeClr val="bg1"/>
                </a:solidFill>
                <a:latin typeface="Times New Roman" panose="02020603050405020304" pitchFamily="18" charset="0"/>
                <a:cs typeface="Times New Roman" panose="02020603050405020304" pitchFamily="18" charset="0"/>
              </a:rPr>
              <a:t>In the Student Final Grades chart, the students’ scores show a wide variation. Most students achieve above-average grades, but there are still some who score lower. This suggests differences in students’ understanding levels and learning styles, highlighting the diversity in how each student absorbs and applies the material.</a:t>
            </a:r>
          </a:p>
          <a:p>
            <a:pPr algn="just">
              <a:buNone/>
            </a:pPr>
            <a:endParaRPr lang="en-US" sz="1000" dirty="0">
              <a:solidFill>
                <a:schemeClr val="bg1"/>
              </a:solidFill>
              <a:latin typeface="Times New Roman" panose="02020603050405020304" pitchFamily="18" charset="0"/>
              <a:cs typeface="Times New Roman" panose="02020603050405020304" pitchFamily="18" charset="0"/>
            </a:endParaRPr>
          </a:p>
          <a:p>
            <a:pPr algn="just">
              <a:buNone/>
            </a:pPr>
            <a:r>
              <a:rPr lang="en-US" sz="1000" dirty="0">
                <a:solidFill>
                  <a:schemeClr val="bg1"/>
                </a:solidFill>
                <a:latin typeface="Times New Roman" panose="02020603050405020304" pitchFamily="18" charset="0"/>
                <a:cs typeface="Times New Roman" panose="02020603050405020304" pitchFamily="18" charset="0"/>
              </a:rPr>
              <a:t>Meanwhile, the Final Grade by Parental Support chart reveals that the level of parental support does not create a significant difference in final grades. Interestingly, students with medium and low parental support have slightly higher average scores compared to those with high support. This implies that academic success may rely more on students’ intrinsic motivation and personal responsibility rather than solely on external parental involvement.</a:t>
            </a:r>
          </a:p>
        </p:txBody>
      </p:sp>
    </p:spTree>
    <p:extLst>
      <p:ext uri="{BB962C8B-B14F-4D97-AF65-F5344CB8AC3E}">
        <p14:creationId xmlns:p14="http://schemas.microsoft.com/office/powerpoint/2010/main" val="418993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FAD19-F041-0A26-506D-209264619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DE297-AC05-A018-69EE-AF57F36DB65F}"/>
              </a:ext>
            </a:extLst>
          </p:cNvPr>
          <p:cNvSpPr>
            <a:spLocks noGrp="1"/>
          </p:cNvSpPr>
          <p:nvPr>
            <p:ph type="title"/>
          </p:nvPr>
        </p:nvSpPr>
        <p:spPr>
          <a:xfrm>
            <a:off x="139500" y="517919"/>
            <a:ext cx="2638500" cy="496494"/>
          </a:xfrm>
        </p:spPr>
        <p:txBody>
          <a:bodyPr>
            <a:normAutofit/>
          </a:bodyPr>
          <a:lstStyle/>
          <a:p>
            <a:r>
              <a:rPr lang="en-US" sz="1800" dirty="0"/>
              <a:t>Detailed Analysis</a:t>
            </a:r>
          </a:p>
        </p:txBody>
      </p:sp>
      <p:pic>
        <p:nvPicPr>
          <p:cNvPr id="6" name="Picture 5">
            <a:extLst>
              <a:ext uri="{FF2B5EF4-FFF2-40B4-BE49-F238E27FC236}">
                <a16:creationId xmlns:a16="http://schemas.microsoft.com/office/drawing/2014/main" id="{35FF9893-4092-D5FD-527A-BC60FA837748}"/>
              </a:ext>
            </a:extLst>
          </p:cNvPr>
          <p:cNvPicPr>
            <a:picLocks noChangeAspect="1"/>
          </p:cNvPicPr>
          <p:nvPr/>
        </p:nvPicPr>
        <p:blipFill>
          <a:blip r:embed="rId2"/>
          <a:stretch>
            <a:fillRect/>
          </a:stretch>
        </p:blipFill>
        <p:spPr>
          <a:xfrm>
            <a:off x="3936106" y="280724"/>
            <a:ext cx="3479106" cy="2086327"/>
          </a:xfrm>
          <a:prstGeom prst="rect">
            <a:avLst/>
          </a:prstGeom>
        </p:spPr>
      </p:pic>
      <p:pic>
        <p:nvPicPr>
          <p:cNvPr id="8" name="Picture 7">
            <a:extLst>
              <a:ext uri="{FF2B5EF4-FFF2-40B4-BE49-F238E27FC236}">
                <a16:creationId xmlns:a16="http://schemas.microsoft.com/office/drawing/2014/main" id="{832D4387-F2E0-7588-25BC-275D6B104A1C}"/>
              </a:ext>
            </a:extLst>
          </p:cNvPr>
          <p:cNvPicPr>
            <a:picLocks noChangeAspect="1"/>
          </p:cNvPicPr>
          <p:nvPr/>
        </p:nvPicPr>
        <p:blipFill>
          <a:blip r:embed="rId3"/>
          <a:stretch>
            <a:fillRect/>
          </a:stretch>
        </p:blipFill>
        <p:spPr>
          <a:xfrm>
            <a:off x="5135870" y="2628093"/>
            <a:ext cx="3479106" cy="2056090"/>
          </a:xfrm>
          <a:prstGeom prst="rect">
            <a:avLst/>
          </a:prstGeom>
        </p:spPr>
      </p:pic>
      <p:sp>
        <p:nvSpPr>
          <p:cNvPr id="10" name="TextBox 9">
            <a:extLst>
              <a:ext uri="{FF2B5EF4-FFF2-40B4-BE49-F238E27FC236}">
                <a16:creationId xmlns:a16="http://schemas.microsoft.com/office/drawing/2014/main" id="{60AC088D-35B5-8D59-A940-A115BEEF497B}"/>
              </a:ext>
            </a:extLst>
          </p:cNvPr>
          <p:cNvSpPr txBox="1"/>
          <p:nvPr/>
        </p:nvSpPr>
        <p:spPr>
          <a:xfrm>
            <a:off x="139500" y="1028223"/>
            <a:ext cx="3032325" cy="3647152"/>
          </a:xfrm>
          <a:prstGeom prst="rect">
            <a:avLst/>
          </a:prstGeom>
          <a:noFill/>
        </p:spPr>
        <p:txBody>
          <a:bodyPr wrap="square">
            <a:spAutoFit/>
          </a:bodyPr>
          <a:lstStyle/>
          <a:p>
            <a:pPr algn="just">
              <a:buNone/>
            </a:pPr>
            <a:r>
              <a:rPr lang="en-US" sz="1100" dirty="0">
                <a:solidFill>
                  <a:schemeClr val="bg1"/>
                </a:solidFill>
                <a:latin typeface="Times New Roman" panose="02020603050405020304" pitchFamily="18" charset="0"/>
                <a:cs typeface="Times New Roman" panose="02020603050405020304" pitchFamily="18" charset="0"/>
              </a:rPr>
              <a:t>From the Detailed Analysis dashboard, it can be seen that the average final grades between male and female students are quite similar. Male students have an average score of </a:t>
            </a:r>
            <a:r>
              <a:rPr lang="en-US" sz="1100" b="1" dirty="0">
                <a:solidFill>
                  <a:schemeClr val="bg1"/>
                </a:solidFill>
                <a:latin typeface="Times New Roman" panose="02020603050405020304" pitchFamily="18" charset="0"/>
                <a:cs typeface="Times New Roman" panose="02020603050405020304" pitchFamily="18" charset="0"/>
              </a:rPr>
              <a:t>80.39</a:t>
            </a:r>
            <a:r>
              <a:rPr lang="en-US" sz="1100" dirty="0">
                <a:solidFill>
                  <a:schemeClr val="bg1"/>
                </a:solidFill>
                <a:latin typeface="Times New Roman" panose="02020603050405020304" pitchFamily="18" charset="0"/>
                <a:cs typeface="Times New Roman" panose="02020603050405020304" pitchFamily="18" charset="0"/>
              </a:rPr>
              <a:t>, which is slightly higher than female students at </a:t>
            </a:r>
            <a:r>
              <a:rPr lang="en-US" sz="1100" b="1" dirty="0">
                <a:solidFill>
                  <a:schemeClr val="bg1"/>
                </a:solidFill>
                <a:latin typeface="Times New Roman" panose="02020603050405020304" pitchFamily="18" charset="0"/>
                <a:cs typeface="Times New Roman" panose="02020603050405020304" pitchFamily="18" charset="0"/>
              </a:rPr>
              <a:t>79.69</a:t>
            </a:r>
            <a:r>
              <a:rPr lang="en-US" sz="1100" dirty="0">
                <a:solidFill>
                  <a:schemeClr val="bg1"/>
                </a:solidFill>
                <a:latin typeface="Times New Roman" panose="02020603050405020304" pitchFamily="18" charset="0"/>
                <a:cs typeface="Times New Roman" panose="02020603050405020304" pitchFamily="18" charset="0"/>
              </a:rPr>
              <a:t>. This small difference indicates that gender has little impact on academic performance. In other words, both male and female students demonstrate relatively equal abilities in achieving academic success.</a:t>
            </a:r>
          </a:p>
          <a:p>
            <a:pPr algn="just">
              <a:buNone/>
            </a:pPr>
            <a:endParaRPr lang="en-US" sz="1100" dirty="0">
              <a:solidFill>
                <a:schemeClr val="bg1"/>
              </a:solidFill>
              <a:latin typeface="Times New Roman" panose="02020603050405020304" pitchFamily="18" charset="0"/>
              <a:cs typeface="Times New Roman" panose="02020603050405020304" pitchFamily="18" charset="0"/>
            </a:endParaRPr>
          </a:p>
          <a:p>
            <a:pPr algn="just">
              <a:buNone/>
            </a:pPr>
            <a:r>
              <a:rPr lang="en-US" sz="1100" dirty="0">
                <a:solidFill>
                  <a:schemeClr val="bg1"/>
                </a:solidFill>
                <a:latin typeface="Times New Roman" panose="02020603050405020304" pitchFamily="18" charset="0"/>
                <a:cs typeface="Times New Roman" panose="02020603050405020304" pitchFamily="18" charset="0"/>
              </a:rPr>
              <a:t>In addition, the Final Grade by Extracurricular Activity chart shows that students who participate in extracurricular activities tend to achieve higher final grades. Those involved in one or two activities perform better compared to those who do not participate at all. This suggests that engagement in extracurricular activities helps students develop responsibility, discipline, and a healthy balance between academic and non-academic pursuits.</a:t>
            </a:r>
          </a:p>
        </p:txBody>
      </p:sp>
    </p:spTree>
    <p:extLst>
      <p:ext uri="{BB962C8B-B14F-4D97-AF65-F5344CB8AC3E}">
        <p14:creationId xmlns:p14="http://schemas.microsoft.com/office/powerpoint/2010/main" val="1172126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896848-BC51-8547-3259-A1CC7F43BBF9}"/>
              </a:ext>
            </a:extLst>
          </p:cNvPr>
          <p:cNvPicPr>
            <a:picLocks noChangeAspect="1"/>
          </p:cNvPicPr>
          <p:nvPr/>
        </p:nvPicPr>
        <p:blipFill>
          <a:blip r:embed="rId2"/>
          <a:stretch>
            <a:fillRect/>
          </a:stretch>
        </p:blipFill>
        <p:spPr>
          <a:xfrm>
            <a:off x="4318700" y="1013547"/>
            <a:ext cx="3809584" cy="2898453"/>
          </a:xfrm>
          <a:prstGeom prst="rect">
            <a:avLst/>
          </a:prstGeom>
        </p:spPr>
      </p:pic>
      <p:sp>
        <p:nvSpPr>
          <p:cNvPr id="8" name="TextBox 7">
            <a:extLst>
              <a:ext uri="{FF2B5EF4-FFF2-40B4-BE49-F238E27FC236}">
                <a16:creationId xmlns:a16="http://schemas.microsoft.com/office/drawing/2014/main" id="{1A5BBACB-81FA-BC95-C2DC-2E09215AB814}"/>
              </a:ext>
            </a:extLst>
          </p:cNvPr>
          <p:cNvSpPr txBox="1"/>
          <p:nvPr/>
        </p:nvSpPr>
        <p:spPr>
          <a:xfrm>
            <a:off x="100013" y="1119187"/>
            <a:ext cx="3100387" cy="3323987"/>
          </a:xfrm>
          <a:prstGeom prst="rect">
            <a:avLst/>
          </a:prstGeom>
          <a:noFill/>
        </p:spPr>
        <p:txBody>
          <a:bodyPr wrap="square">
            <a:spAutoFit/>
          </a:bodyPr>
          <a:lstStyle/>
          <a:p>
            <a:pPr algn="just">
              <a:buNone/>
            </a:pPr>
            <a:r>
              <a:rPr lang="en-US" dirty="0">
                <a:solidFill>
                  <a:schemeClr val="bg1"/>
                </a:solidFill>
                <a:latin typeface="Times New Roman" panose="02020603050405020304" pitchFamily="18" charset="0"/>
                <a:cs typeface="Times New Roman" panose="02020603050405020304" pitchFamily="18" charset="0"/>
              </a:rPr>
              <a:t>The Comparison of Final and Previous Grades chart shows differences in students' academic progress between their previous and final scores. Some students such as </a:t>
            </a:r>
            <a:r>
              <a:rPr lang="en-US" b="1" dirty="0">
                <a:solidFill>
                  <a:schemeClr val="bg1"/>
                </a:solidFill>
                <a:latin typeface="Times New Roman" panose="02020603050405020304" pitchFamily="18" charset="0"/>
                <a:cs typeface="Times New Roman" panose="02020603050405020304" pitchFamily="18" charset="0"/>
              </a:rPr>
              <a:t>S004</a:t>
            </a:r>
            <a:r>
              <a:rPr lang="en-US" dirty="0">
                <a:solidFill>
                  <a:schemeClr val="bg1"/>
                </a:solidFill>
                <a:latin typeface="Times New Roman" panose="02020603050405020304" pitchFamily="18" charset="0"/>
                <a:cs typeface="Times New Roman" panose="02020603050405020304" pitchFamily="18" charset="0"/>
              </a:rPr>
              <a:t> showed a significant improvement from </a:t>
            </a:r>
            <a:r>
              <a:rPr lang="en-US" b="1" dirty="0">
                <a:solidFill>
                  <a:schemeClr val="bg1"/>
                </a:solidFill>
                <a:latin typeface="Times New Roman" panose="02020603050405020304" pitchFamily="18" charset="0"/>
                <a:cs typeface="Times New Roman" panose="02020603050405020304" pitchFamily="18" charset="0"/>
              </a:rPr>
              <a:t>80</a:t>
            </a:r>
            <a:r>
              <a:rPr lang="en-US" dirty="0">
                <a:solidFill>
                  <a:schemeClr val="bg1"/>
                </a:solidFill>
                <a:latin typeface="Times New Roman" panose="02020603050405020304" pitchFamily="18" charset="0"/>
                <a:cs typeface="Times New Roman" panose="02020603050405020304" pitchFamily="18" charset="0"/>
              </a:rPr>
              <a:t> to </a:t>
            </a:r>
            <a:r>
              <a:rPr lang="en-US" b="1" dirty="0">
                <a:solidFill>
                  <a:schemeClr val="bg1"/>
                </a:solidFill>
                <a:latin typeface="Times New Roman" panose="02020603050405020304" pitchFamily="18" charset="0"/>
                <a:cs typeface="Times New Roman" panose="02020603050405020304" pitchFamily="18" charset="0"/>
              </a:rPr>
              <a:t>92</a:t>
            </a:r>
            <a:r>
              <a:rPr lang="en-US" dirty="0">
                <a:solidFill>
                  <a:schemeClr val="bg1"/>
                </a:solidFill>
                <a:latin typeface="Times New Roman" panose="02020603050405020304" pitchFamily="18" charset="0"/>
                <a:cs typeface="Times New Roman" panose="02020603050405020304" pitchFamily="18" charset="0"/>
              </a:rPr>
              <a:t>, indicating positive academic development. However, students like </a:t>
            </a:r>
            <a:r>
              <a:rPr lang="en-US" b="1" dirty="0">
                <a:solidFill>
                  <a:schemeClr val="bg1"/>
                </a:solidFill>
                <a:latin typeface="Times New Roman" panose="02020603050405020304" pitchFamily="18" charset="0"/>
                <a:cs typeface="Times New Roman" panose="02020603050405020304" pitchFamily="18" charset="0"/>
              </a:rPr>
              <a:t>S003</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S007</a:t>
            </a:r>
            <a:r>
              <a:rPr lang="en-US" dirty="0">
                <a:solidFill>
                  <a:schemeClr val="bg1"/>
                </a:solidFill>
                <a:latin typeface="Times New Roman" panose="02020603050405020304" pitchFamily="18" charset="0"/>
                <a:cs typeface="Times New Roman" panose="02020603050405020304" pitchFamily="18" charset="0"/>
              </a:rPr>
              <a:t> experienced a noticeable decline in their grades. This pattern suggests that not all students achieved progress, as some faced setbacks that may have been influenced by decreased motivation, higher subject difficulty, or a lack of learning consistency.</a:t>
            </a:r>
          </a:p>
        </p:txBody>
      </p:sp>
    </p:spTree>
    <p:extLst>
      <p:ext uri="{BB962C8B-B14F-4D97-AF65-F5344CB8AC3E}">
        <p14:creationId xmlns:p14="http://schemas.microsoft.com/office/powerpoint/2010/main" val="3164916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3ECB-0BB3-22B7-AB40-BD0E0140E457}"/>
              </a:ext>
            </a:extLst>
          </p:cNvPr>
          <p:cNvSpPr>
            <a:spLocks noGrp="1"/>
          </p:cNvSpPr>
          <p:nvPr>
            <p:ph type="title"/>
          </p:nvPr>
        </p:nvSpPr>
        <p:spPr>
          <a:xfrm>
            <a:off x="205564" y="574625"/>
            <a:ext cx="5484300" cy="572700"/>
          </a:xfrm>
        </p:spPr>
        <p:txBody>
          <a:bodyPr>
            <a:normAutofit fontScale="90000"/>
          </a:bodyPr>
          <a:lstStyle/>
          <a:p>
            <a:r>
              <a:rPr lang="en-US" dirty="0"/>
              <a:t>CONCLUSION</a:t>
            </a:r>
          </a:p>
        </p:txBody>
      </p:sp>
      <p:sp>
        <p:nvSpPr>
          <p:cNvPr id="3" name="Text Placeholder 2">
            <a:extLst>
              <a:ext uri="{FF2B5EF4-FFF2-40B4-BE49-F238E27FC236}">
                <a16:creationId xmlns:a16="http://schemas.microsoft.com/office/drawing/2014/main" id="{EF14DA91-96CD-521E-C2E3-4CE705A100EF}"/>
              </a:ext>
            </a:extLst>
          </p:cNvPr>
          <p:cNvSpPr>
            <a:spLocks noGrp="1"/>
          </p:cNvSpPr>
          <p:nvPr>
            <p:ph type="body" idx="1"/>
          </p:nvPr>
        </p:nvSpPr>
        <p:spPr>
          <a:xfrm>
            <a:off x="115756" y="1013681"/>
            <a:ext cx="8228144" cy="3416400"/>
          </a:xfrm>
        </p:spPr>
        <p:txBody>
          <a:bodyPr>
            <a:noAutofit/>
          </a:bodyPr>
          <a:lstStyle/>
          <a:p>
            <a:pPr marL="139700" indent="0" algn="just">
              <a:lnSpc>
                <a:spcPct val="150000"/>
              </a:lnSpc>
              <a:buNone/>
            </a:pPr>
            <a:r>
              <a:rPr lang="en-US" sz="1200" dirty="0">
                <a:latin typeface="Times New Roman" panose="02020603050405020304" pitchFamily="18" charset="0"/>
                <a:cs typeface="Times New Roman" panose="02020603050405020304" pitchFamily="18" charset="0"/>
              </a:rPr>
              <a:t>From the analysis, it can be concluded that students generally show good academic performance, with an average final grade of 80.02 and an attendance rate of 85.520.</a:t>
            </a:r>
          </a:p>
          <a:p>
            <a:pPr marL="139700" indent="0" algn="just">
              <a:lnSpc>
                <a:spcPct val="150000"/>
              </a:lnSpc>
              <a:buNone/>
            </a:pPr>
            <a:r>
              <a:rPr lang="en-US" sz="1200" dirty="0">
                <a:latin typeface="Times New Roman" panose="02020603050405020304" pitchFamily="18" charset="0"/>
                <a:cs typeface="Times New Roman" panose="02020603050405020304" pitchFamily="18" charset="0"/>
              </a:rPr>
              <a:t>Some important findings are:</a:t>
            </a:r>
          </a:p>
          <a:p>
            <a:pPr algn="just">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Gender has little influence on academic results, as male and female students perform almost equally.</a:t>
            </a:r>
          </a:p>
          <a:p>
            <a:pPr algn="just">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Study hours per week have a positive but weak effect on grades, meaning that study quality is more important than study duration.</a:t>
            </a:r>
          </a:p>
          <a:p>
            <a:pPr algn="just">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Extracurricular activities contribute positively to students’ performance by building discipline, motivation, and responsibility.</a:t>
            </a:r>
          </a:p>
          <a:p>
            <a:pPr algn="just">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Parental support has minimal effect, suggesting that success depends more on personal effort and motivation.</a:t>
            </a:r>
          </a:p>
          <a:p>
            <a:pPr algn="just">
              <a:lnSpc>
                <a:spcPct val="150000"/>
              </a:lnSpc>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The simple linear regression model predicts final grades quite accurately and helps identify learning patterns among students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735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1B51E-26E2-AB85-F8CA-66557E2CB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5056D-027C-CAD1-8362-1004AA6887D8}"/>
              </a:ext>
            </a:extLst>
          </p:cNvPr>
          <p:cNvSpPr>
            <a:spLocks noGrp="1"/>
          </p:cNvSpPr>
          <p:nvPr>
            <p:ph type="title"/>
          </p:nvPr>
        </p:nvSpPr>
        <p:spPr/>
        <p:txBody>
          <a:bodyPr>
            <a:normAutofit fontScale="90000"/>
          </a:bodyPr>
          <a:lstStyle/>
          <a:p>
            <a:r>
              <a:rPr lang="en-US" dirty="0"/>
              <a:t>RECOMMENDATIONS</a:t>
            </a:r>
          </a:p>
        </p:txBody>
      </p:sp>
      <p:sp>
        <p:nvSpPr>
          <p:cNvPr id="3" name="Text Placeholder 2">
            <a:extLst>
              <a:ext uri="{FF2B5EF4-FFF2-40B4-BE49-F238E27FC236}">
                <a16:creationId xmlns:a16="http://schemas.microsoft.com/office/drawing/2014/main" id="{968F2ABD-A959-D569-E728-D9930C8FE5ED}"/>
              </a:ext>
            </a:extLst>
          </p:cNvPr>
          <p:cNvSpPr>
            <a:spLocks noGrp="1"/>
          </p:cNvSpPr>
          <p:nvPr>
            <p:ph type="body" idx="1"/>
          </p:nvPr>
        </p:nvSpPr>
        <p:spPr>
          <a:xfrm>
            <a:off x="238222" y="1194607"/>
            <a:ext cx="8097514" cy="2570439"/>
          </a:xfrm>
        </p:spPr>
        <p:txBody>
          <a:bodyPr>
            <a:normAutofit/>
          </a:bodyPr>
          <a:lstStyle/>
          <a:p>
            <a:pPr marL="139700" indent="0" algn="just">
              <a:lnSpc>
                <a:spcPct val="150000"/>
              </a:lnSpc>
              <a:buNone/>
            </a:pPr>
            <a:r>
              <a:rPr lang="en-US" sz="1600" dirty="0">
                <a:latin typeface="Times New Roman" panose="02020603050405020304" pitchFamily="18" charset="0"/>
                <a:cs typeface="Times New Roman" panose="02020603050405020304" pitchFamily="18" charset="0"/>
              </a:rPr>
              <a:t>To improve student performance and support further analysis, it is recommended to:</a:t>
            </a:r>
          </a:p>
          <a:p>
            <a:pPr algn="just">
              <a:lnSpc>
                <a:spcPct val="150000"/>
              </a:lnSpc>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Encourage a healthy balance between studying and extracurricular participation.</a:t>
            </a:r>
          </a:p>
          <a:p>
            <a:pPr algn="just">
              <a:lnSpc>
                <a:spcPct val="150000"/>
              </a:lnSpc>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Focus on enhancing learning quality through effective and engaging teaching strategies.</a:t>
            </a:r>
          </a:p>
          <a:p>
            <a:pPr algn="just">
              <a:lnSpc>
                <a:spcPct val="150000"/>
              </a:lnSpc>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Strengthen students’ internal motivation to help them stay consistent and self-driven.</a:t>
            </a:r>
          </a:p>
          <a:p>
            <a:pPr algn="just">
              <a:lnSpc>
                <a:spcPct val="150000"/>
              </a:lnSpc>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Regularly monitor student data to detect performance issues early.</a:t>
            </a:r>
          </a:p>
          <a:p>
            <a:pPr algn="just">
              <a:lnSpc>
                <a:spcPct val="150000"/>
              </a:lnSpc>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Continue developing the prediction model by adding more variables to improve accuracy.</a:t>
            </a:r>
          </a:p>
        </p:txBody>
      </p:sp>
    </p:spTree>
    <p:extLst>
      <p:ext uri="{BB962C8B-B14F-4D97-AF65-F5344CB8AC3E}">
        <p14:creationId xmlns:p14="http://schemas.microsoft.com/office/powerpoint/2010/main" val="3595392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3" name="TextBox 2">
            <a:extLst>
              <a:ext uri="{FF2B5EF4-FFF2-40B4-BE49-F238E27FC236}">
                <a16:creationId xmlns:a16="http://schemas.microsoft.com/office/drawing/2014/main" id="{C6FEA74E-EDCE-B306-D09F-59C355C3FF23}"/>
              </a:ext>
            </a:extLst>
          </p:cNvPr>
          <p:cNvSpPr txBox="1"/>
          <p:nvPr/>
        </p:nvSpPr>
        <p:spPr>
          <a:xfrm>
            <a:off x="514350" y="2010102"/>
            <a:ext cx="4757738" cy="646331"/>
          </a:xfrm>
          <a:prstGeom prst="rect">
            <a:avLst/>
          </a:prstGeom>
          <a:noFill/>
        </p:spPr>
        <p:txBody>
          <a:bodyPr wrap="square">
            <a:spAutoFit/>
          </a:bodyPr>
          <a:lstStyle/>
          <a:p>
            <a:r>
              <a:rPr lang="en-US" sz="1800" b="1" dirty="0">
                <a:hlinkClick r:id="rId3"/>
              </a:rPr>
              <a:t>https://lookerstudio.google.com/reporting/bb61251f-e034-4d6a-8838-38ac83929f84</a:t>
            </a:r>
            <a:endParaRPr lang="en-US" sz="1800"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TotalTime>
  <Words>1707</Words>
  <Application>Microsoft Office PowerPoint</Application>
  <PresentationFormat>On-screen Show (16:9)</PresentationFormat>
  <Paragraphs>142</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Poppins SemiBold</vt:lpstr>
      <vt:lpstr>Courier New</vt:lpstr>
      <vt:lpstr>Times New Roman</vt:lpstr>
      <vt:lpstr>Arial</vt:lpstr>
      <vt:lpstr>Poppins Light</vt:lpstr>
      <vt:lpstr>Poppins</vt:lpstr>
      <vt:lpstr>Simple Light</vt:lpstr>
      <vt:lpstr>STUDENTS PERFORMANCE DATA ANALYSIS</vt:lpstr>
      <vt:lpstr>INTRODUCTION</vt:lpstr>
      <vt:lpstr>DATA SET</vt:lpstr>
      <vt:lpstr>DATA CLEANING, DATA TRANSFORMATION, AND MACHINE LEARNING (SIMPLE REGRESSION MODEL)</vt:lpstr>
      <vt:lpstr>DATA HANDLING AND CLEANING</vt:lpstr>
      <vt:lpstr>DATA HANDLING AND CLEANING</vt:lpstr>
      <vt:lpstr>COLUMN REMOVAL</vt:lpstr>
      <vt:lpstr>DATA TRANSFORMATION</vt:lpstr>
      <vt:lpstr>MACHINE LEARNING (SIMPLE REGRESSION MODEL)</vt:lpstr>
      <vt:lpstr>DATA VISUALIZATION AND ANALYSIS</vt:lpstr>
      <vt:lpstr>PowerPoint Presentation</vt:lpstr>
      <vt:lpstr>Student Demographics</vt:lpstr>
      <vt:lpstr>Academic Performance</vt:lpstr>
      <vt:lpstr>Detailed Analysis</vt:lpstr>
      <vt:lpstr>PowerPoint Presentation</vt:lpstr>
      <vt:lpstr>CONCLUSION</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HAWA</dc:creator>
  <cp:lastModifiedBy>Hawa Andini</cp:lastModifiedBy>
  <cp:revision>12</cp:revision>
  <dcterms:modified xsi:type="dcterms:W3CDTF">2025-10-29T10:46:52Z</dcterms:modified>
</cp:coreProperties>
</file>